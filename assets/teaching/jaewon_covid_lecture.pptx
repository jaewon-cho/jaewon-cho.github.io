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9" r:id="rId3"/>
    <p:sldId id="257" r:id="rId4"/>
    <p:sldId id="270" r:id="rId5"/>
    <p:sldId id="258" r:id="rId6"/>
    <p:sldId id="260" r:id="rId7"/>
    <p:sldId id="273" r:id="rId8"/>
    <p:sldId id="274" r:id="rId9"/>
    <p:sldId id="261" r:id="rId10"/>
    <p:sldId id="262" r:id="rId11"/>
    <p:sldId id="264" r:id="rId12"/>
    <p:sldId id="275" r:id="rId13"/>
    <p:sldId id="265" r:id="rId14"/>
    <p:sldId id="266" r:id="rId15"/>
    <p:sldId id="267" r:id="rId16"/>
    <p:sldId id="280" r:id="rId17"/>
    <p:sldId id="281" r:id="rId18"/>
    <p:sldId id="279" r:id="rId19"/>
    <p:sldId id="271" r:id="rId20"/>
    <p:sldId id="276" r:id="rId21"/>
    <p:sldId id="277" r:id="rId22"/>
    <p:sldId id="278" r:id="rId23"/>
    <p:sldId id="268" r:id="rId24"/>
    <p:sldId id="272" r:id="rId25"/>
    <p:sldId id="282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05736-8B67-4E31-BD4F-32524DE3D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EA22BA-AE7A-47B6-B714-12FE910EA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9A417-FE83-42AA-A2DD-6249FA40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5C66C-8B53-40D8-A429-67522812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BEC72-B2E3-42C3-A28D-0BD834DA1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1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F308-C277-4625-A038-7D68B25C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42960-D3F2-4DA0-AB66-E041CFAEB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5849B-D577-4635-9D2A-FE192C659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CD337-D52D-4A4F-9D55-47F43AA35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5E6F8-8085-4CF5-8775-87C229719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78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4109-B2AF-463F-8C8A-1A633D20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C903E-074B-401D-80C5-245D8FD9F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4114E-760A-4C2F-BC08-1BCDDCD1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8C1DA-A23B-4793-9B5B-E28CCFA1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351EE-9F7B-470C-B0C3-A41340E5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2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BA005-6060-4440-BF25-2AA20DB4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9107A-BF71-47D4-890D-F46B4635B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D4396-CB6E-4810-9125-440B44554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C0C82-89E6-44E7-BE80-3268B1D46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57FAF2-4CA8-4E14-8978-419D09084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372F1-E66D-45F2-B398-A9E90B14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A468-B185-4A5C-A8FC-2D747620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45E0-55C8-4D8C-8611-31CC8B1BB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A5F80-9C57-45C5-A9E4-E4E5F51BD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4AC5BD-137E-41E9-A244-CB9559A1B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BEF3E-FC3B-4518-9B48-AD4100B76A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F2AEB-EB3D-4C0A-B259-C25EB86C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62AFA4-B0C3-4B2E-8E83-6C88CA97E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E7FCB-A9DC-43D3-9871-E1B02180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77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C15A-4C07-44D1-B1F4-39D199373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D5164B-D30C-4148-9FC7-9CE20E6B6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895F9-BA49-4950-B2A7-7D26A25F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F54C2-D1CE-4829-99B6-46386260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3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3ABE2-C324-429B-903E-BE9AFDACA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58CA4-0325-453C-B806-0BF6861D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815A4-8B05-4A59-9237-C91B69AA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97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0280-83C1-41BF-9792-F87A6FFDD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69FD3-E954-4686-83DE-7A2379E7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69F25-B273-4097-BD40-8C6D081E6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2D106-EE61-4DC9-85C3-A470C8856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50D5F-B05F-45BD-8C57-BC6251FB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4CB3B-F255-4970-9204-7857F3EF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5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E422-3B19-4C3C-85CF-5B02F7FA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7F99D8-DBF9-4AFB-8C78-7572A2C90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0F294-8268-4B8C-B263-B1A07DCF8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1E902-9C78-4B1E-84AE-F14F75DC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26A14-597A-422C-ABBB-4456A5AF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2A4C6-BA44-407F-A34C-0DFF82AA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52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C3A6A-B1FE-45E1-83F5-49CCF2A6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E0A96-4737-4544-A0DE-F7B51216D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71839-1A2C-4442-93EC-D4067D455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0C0DC-77C4-484B-9272-8C1EC6FF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583D2-A1B7-4981-941B-703F9E566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5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1D7C1-7425-4C4E-95DC-94C9F765AC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728F9-170A-4955-B331-A4A070281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596AE-7549-4DF1-B291-20B2DC603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46C23-2F8B-488B-9AEA-4183FCB86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9107C-8824-4582-B0FF-1B8C9C69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9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87C3F-AAF8-4EDF-87C4-7DC787E3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E305D-8BAC-4216-8CC6-E4BF195FC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21719-B420-4B66-8058-C3C0ADF28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FD41E-3E92-4902-947C-050B627FD945}" type="datetimeFigureOut">
              <a:rPr lang="en-US" smtClean="0"/>
              <a:t>2/9/2023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75826-F00F-49D0-8AB5-F1704D147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8C4FE-FAFF-4DA6-9373-710CD383C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82F0D-A76D-4FF6-AAA8-4316D8C6D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6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munogenomics/harmony" TargetMode="External"/><Relationship Id="rId2" Type="http://schemas.openxmlformats.org/officeDocument/2006/relationships/hyperlink" Target="https://satijalab.org/seurat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5B6E80-F6DE-419A-B439-4C7CC61AD66E}"/>
              </a:ext>
            </a:extLst>
          </p:cNvPr>
          <p:cNvSpPr txBox="1"/>
          <p:nvPr/>
        </p:nvSpPr>
        <p:spPr>
          <a:xfrm>
            <a:off x="304799" y="5413410"/>
            <a:ext cx="2146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 err="1"/>
              <a:t>ccRCC</a:t>
            </a:r>
            <a:r>
              <a:rPr lang="en-US" dirty="0"/>
              <a:t> 3, normal 3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0F47DF6-7204-5DA6-941B-F4B3561A6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69" y="5736575"/>
            <a:ext cx="7780029" cy="3003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B3271C-858D-89BA-A72B-F5BA42A81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542260"/>
            <a:ext cx="7581182" cy="22833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713F56A-0CF9-7D4B-A53E-832A85C27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79" y="2753848"/>
            <a:ext cx="6267248" cy="267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13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4968DD4-ABDF-4F9C-BF2C-F87927454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1857375"/>
            <a:ext cx="113538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04E5FF-7352-41DC-AB0F-3A07CBFD96F5}"/>
              </a:ext>
            </a:extLst>
          </p:cNvPr>
          <p:cNvSpPr txBox="1"/>
          <p:nvPr/>
        </p:nvSpPr>
        <p:spPr>
          <a:xfrm>
            <a:off x="304800" y="200025"/>
            <a:ext cx="842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10x genomics</a:t>
            </a:r>
          </a:p>
        </p:txBody>
      </p:sp>
    </p:spTree>
    <p:extLst>
      <p:ext uri="{BB962C8B-B14F-4D97-AF65-F5344CB8AC3E}">
        <p14:creationId xmlns:p14="http://schemas.microsoft.com/office/powerpoint/2010/main" val="398127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BB63FC-E2ED-42FB-8567-95C70FC3C433}"/>
              </a:ext>
            </a:extLst>
          </p:cNvPr>
          <p:cNvSpPr txBox="1"/>
          <p:nvPr/>
        </p:nvSpPr>
        <p:spPr>
          <a:xfrm>
            <a:off x="447675" y="485775"/>
            <a:ext cx="97615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Goal: To learn how to pre-process and analyze single-cell RNA sequencing data with real data </a:t>
            </a:r>
          </a:p>
          <a:p>
            <a:endParaRPr lang="en-US" dirty="0"/>
          </a:p>
          <a:p>
            <a:r>
              <a:rPr lang="en-US" dirty="0"/>
              <a:t>Content</a:t>
            </a:r>
          </a:p>
          <a:p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Data importing</a:t>
            </a:r>
          </a:p>
          <a:p>
            <a:pPr marL="342900" indent="-342900">
              <a:buAutoNum type="arabicParenR"/>
            </a:pPr>
            <a:r>
              <a:rPr lang="en-US" dirty="0"/>
              <a:t>Quality control</a:t>
            </a:r>
          </a:p>
          <a:p>
            <a:pPr marL="342900" indent="-342900">
              <a:buAutoNum type="arabicParenR"/>
            </a:pPr>
            <a:r>
              <a:rPr lang="en-US" dirty="0"/>
              <a:t>Normalization &amp; Scaling</a:t>
            </a:r>
          </a:p>
          <a:p>
            <a:pPr marL="342900" indent="-342900">
              <a:buAutoNum type="arabicParenR"/>
            </a:pPr>
            <a:r>
              <a:rPr lang="en-US" dirty="0"/>
              <a:t>Feature selection</a:t>
            </a:r>
          </a:p>
          <a:p>
            <a:pPr marL="342900" indent="-342900">
              <a:buAutoNum type="arabicParenR"/>
            </a:pPr>
            <a:r>
              <a:rPr lang="en-US" dirty="0"/>
              <a:t>Dimension reduction (PCA &amp; UMAP)</a:t>
            </a:r>
          </a:p>
          <a:p>
            <a:pPr marL="342900" indent="-342900">
              <a:buAutoNum type="arabicParenR"/>
            </a:pPr>
            <a:r>
              <a:rPr lang="en-US" dirty="0"/>
              <a:t>Batch correction (Harmony)</a:t>
            </a:r>
          </a:p>
          <a:p>
            <a:pPr marL="342900" indent="-342900">
              <a:buAutoNum type="arabicParenR"/>
            </a:pPr>
            <a:r>
              <a:rPr lang="en-US" dirty="0"/>
              <a:t>Clustering</a:t>
            </a:r>
          </a:p>
          <a:p>
            <a:pPr marL="342900" indent="-342900">
              <a:buAutoNum type="arabicParenR"/>
            </a:pPr>
            <a:r>
              <a:rPr lang="en-US" dirty="0" err="1"/>
              <a:t>Celltype</a:t>
            </a:r>
            <a:r>
              <a:rPr lang="en-US" dirty="0"/>
              <a:t> annotation</a:t>
            </a:r>
          </a:p>
          <a:p>
            <a:pPr marL="342900" indent="-342900">
              <a:buAutoNum type="arabicParenR"/>
            </a:pPr>
            <a:r>
              <a:rPr lang="en-US" dirty="0"/>
              <a:t>DEG between groups</a:t>
            </a:r>
          </a:p>
          <a:p>
            <a:pPr marL="342900" indent="-342900">
              <a:buAutoNum type="arabicParenR"/>
            </a:pPr>
            <a:r>
              <a:rPr lang="en-US" dirty="0"/>
              <a:t>Signature</a:t>
            </a:r>
            <a:r>
              <a:rPr lang="ko-KR" altLang="en-US" dirty="0"/>
              <a:t> </a:t>
            </a:r>
            <a:r>
              <a:rPr lang="en-US" altLang="ko-KR" dirty="0"/>
              <a:t>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95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5B6E80-F6DE-419A-B439-4C7CC61AD66E}"/>
              </a:ext>
            </a:extLst>
          </p:cNvPr>
          <p:cNvSpPr txBox="1"/>
          <p:nvPr/>
        </p:nvSpPr>
        <p:spPr>
          <a:xfrm>
            <a:off x="304800" y="200025"/>
            <a:ext cx="84201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start!</a:t>
            </a:r>
          </a:p>
          <a:p>
            <a:endParaRPr lang="en-US" dirty="0"/>
          </a:p>
          <a:p>
            <a:r>
              <a:rPr lang="en-US" dirty="0"/>
              <a:t>Requirement</a:t>
            </a:r>
          </a:p>
          <a:p>
            <a:endParaRPr lang="en-US" dirty="0"/>
          </a:p>
          <a:p>
            <a:r>
              <a:rPr lang="en-US" dirty="0"/>
              <a:t>R</a:t>
            </a:r>
          </a:p>
          <a:p>
            <a:r>
              <a:rPr lang="en-US" dirty="0" err="1"/>
              <a:t>install.packages</a:t>
            </a:r>
            <a:r>
              <a:rPr lang="en-US" dirty="0"/>
              <a:t>('Seurat’)</a:t>
            </a:r>
          </a:p>
          <a:p>
            <a:r>
              <a:rPr lang="en-US" dirty="0"/>
              <a:t># </a:t>
            </a:r>
            <a:r>
              <a:rPr lang="en-US" dirty="0">
                <a:hlinkClick r:id="rId2"/>
              </a:rPr>
              <a:t>https://satijalab.org/seurat/</a:t>
            </a:r>
            <a:endParaRPr lang="en-US" dirty="0"/>
          </a:p>
          <a:p>
            <a:r>
              <a:rPr lang="en-US" dirty="0" err="1"/>
              <a:t>install.packages</a:t>
            </a:r>
            <a:r>
              <a:rPr lang="en-US" dirty="0"/>
              <a:t>("harmony")</a:t>
            </a:r>
          </a:p>
          <a:p>
            <a:r>
              <a:rPr lang="en-US" dirty="0"/>
              <a:t># </a:t>
            </a:r>
            <a:r>
              <a:rPr lang="en-US" dirty="0">
                <a:hlinkClick r:id="rId3"/>
              </a:rPr>
              <a:t>https://github.com/immunogenomics/harmony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library(Seurat)</a:t>
            </a:r>
          </a:p>
          <a:p>
            <a:r>
              <a:rPr lang="en-US" dirty="0"/>
              <a:t>library(harmony)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347AB1-CB54-6A13-7B95-FA62ADAF5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608" y="2743365"/>
            <a:ext cx="5296407" cy="16321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5CC7BE6-1C51-1557-CD6C-822B87429D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81613"/>
            <a:ext cx="5335015" cy="126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42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273B4A-F101-42F9-B1E8-7860A58F58F7}"/>
              </a:ext>
            </a:extLst>
          </p:cNvPr>
          <p:cNvSpPr txBox="1"/>
          <p:nvPr/>
        </p:nvSpPr>
        <p:spPr>
          <a:xfrm>
            <a:off x="333080" y="580938"/>
            <a:ext cx="10429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1) Data importing</a:t>
            </a:r>
          </a:p>
          <a:p>
            <a:endParaRPr lang="en-US" dirty="0"/>
          </a:p>
          <a:p>
            <a:r>
              <a:rPr lang="en-US" dirty="0"/>
              <a:t>Why? We should make the object into analyzable format</a:t>
            </a:r>
          </a:p>
          <a:p>
            <a:r>
              <a:rPr lang="en-US" dirty="0" err="1"/>
              <a:t>min.cells</a:t>
            </a:r>
            <a:r>
              <a:rPr lang="en-US" dirty="0"/>
              <a:t>: how many cells are expressing that gene</a:t>
            </a:r>
          </a:p>
          <a:p>
            <a:r>
              <a:rPr lang="en-US" dirty="0" err="1"/>
              <a:t>min.features</a:t>
            </a:r>
            <a:r>
              <a:rPr lang="en-US" dirty="0"/>
              <a:t>: how many genes are expressed in single-cell (too low </a:t>
            </a:r>
            <a:r>
              <a:rPr lang="en-US" dirty="0">
                <a:sym typeface="Wingdings" panose="05000000000000000000" pitchFamily="2" charset="2"/>
              </a:rPr>
              <a:t> it won’t be a cell; empty droplet)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83EF5-CDFD-4702-B297-9C4C1F2CF326}"/>
              </a:ext>
            </a:extLst>
          </p:cNvPr>
          <p:cNvSpPr txBox="1"/>
          <p:nvPr/>
        </p:nvSpPr>
        <p:spPr>
          <a:xfrm>
            <a:off x="333081" y="3624473"/>
            <a:ext cx="10572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  <a:p>
            <a:r>
              <a:rPr lang="en-US" dirty="0"/>
              <a:t>data &lt;- Read10X(</a:t>
            </a:r>
            <a:r>
              <a:rPr lang="en-US" dirty="0" err="1"/>
              <a:t>data.dir</a:t>
            </a:r>
            <a:r>
              <a:rPr lang="en-US" dirty="0"/>
              <a:t> = "/</a:t>
            </a:r>
            <a:r>
              <a:rPr lang="en-US" dirty="0" err="1"/>
              <a:t>your_data_folder</a:t>
            </a:r>
            <a:r>
              <a:rPr lang="en-US" dirty="0"/>
              <a:t>/") #PR1-Normal</a:t>
            </a:r>
          </a:p>
          <a:p>
            <a:r>
              <a:rPr lang="en-US" dirty="0" err="1"/>
              <a:t>ccrcc</a:t>
            </a:r>
            <a:r>
              <a:rPr lang="en-US" dirty="0"/>
              <a:t> &lt;- </a:t>
            </a:r>
            <a:r>
              <a:rPr lang="en-US" dirty="0" err="1"/>
              <a:t>CreateSeuratObject</a:t>
            </a:r>
            <a:r>
              <a:rPr lang="en-US" dirty="0"/>
              <a:t>(counts = data, </a:t>
            </a:r>
            <a:r>
              <a:rPr lang="en-US" dirty="0" err="1"/>
              <a:t>min.cells</a:t>
            </a:r>
            <a:r>
              <a:rPr lang="en-US" dirty="0"/>
              <a:t> = 0, </a:t>
            </a:r>
            <a:r>
              <a:rPr lang="en-US" dirty="0" err="1"/>
              <a:t>min.features</a:t>
            </a:r>
            <a:r>
              <a:rPr lang="en-US" dirty="0"/>
              <a:t> = 0)</a:t>
            </a:r>
          </a:p>
          <a:p>
            <a:endParaRPr lang="en-US" dirty="0"/>
          </a:p>
          <a:p>
            <a:r>
              <a:rPr lang="en-US" dirty="0" err="1"/>
              <a:t>ccrcc$sample</a:t>
            </a:r>
            <a:r>
              <a:rPr lang="en-US" dirty="0"/>
              <a:t> &lt;- </a:t>
            </a:r>
            <a:r>
              <a:rPr lang="en-US" altLang="ko-KR" dirty="0"/>
              <a:t>"</a:t>
            </a:r>
            <a:r>
              <a:rPr lang="en-US" dirty="0"/>
              <a:t>PR1-Normal</a:t>
            </a:r>
            <a:r>
              <a:rPr lang="en-US" altLang="ko-KR" dirty="0"/>
              <a:t>"</a:t>
            </a:r>
            <a:endParaRPr lang="en-US" dirty="0"/>
          </a:p>
          <a:p>
            <a:r>
              <a:rPr lang="en-US" dirty="0" err="1"/>
              <a:t>ccrcc$group</a:t>
            </a:r>
            <a:r>
              <a:rPr lang="en-US" dirty="0"/>
              <a:t> &lt;- </a:t>
            </a:r>
            <a:r>
              <a:rPr lang="en-US" altLang="ko-KR" dirty="0"/>
              <a:t>"</a:t>
            </a:r>
            <a:r>
              <a:rPr lang="en-US" dirty="0"/>
              <a:t>normal</a:t>
            </a:r>
            <a:r>
              <a:rPr lang="en-US" altLang="ko-KR" dirty="0"/>
              <a:t>"</a:t>
            </a:r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EEE0FD4-C0B6-4896-A8CE-6200480902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61" r="41443"/>
          <a:stretch/>
        </p:blipFill>
        <p:spPr bwMode="auto">
          <a:xfrm>
            <a:off x="10542899" y="682114"/>
            <a:ext cx="106680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DE524EE-9E84-48A3-8407-C3C5D59C6820}"/>
              </a:ext>
            </a:extLst>
          </p:cNvPr>
          <p:cNvSpPr/>
          <p:nvPr/>
        </p:nvSpPr>
        <p:spPr>
          <a:xfrm>
            <a:off x="10600049" y="2791424"/>
            <a:ext cx="428625" cy="42862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DD48B30-0394-5C9C-5554-6055D0CCF1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325"/>
          <a:stretch/>
        </p:blipFill>
        <p:spPr>
          <a:xfrm>
            <a:off x="361656" y="2154025"/>
            <a:ext cx="3695700" cy="12749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52949F3-03A5-A78F-A63E-FFBF6C8427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1326"/>
          <a:stretch/>
        </p:blipFill>
        <p:spPr>
          <a:xfrm>
            <a:off x="4057356" y="2154024"/>
            <a:ext cx="3695700" cy="127497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695ACA6-8414-535D-6F79-33564C8BD3FD}"/>
              </a:ext>
            </a:extLst>
          </p:cNvPr>
          <p:cNvSpPr/>
          <p:nvPr/>
        </p:nvSpPr>
        <p:spPr>
          <a:xfrm>
            <a:off x="333080" y="4799735"/>
            <a:ext cx="3164863" cy="570551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686CF-F0BF-A851-0DF4-117FF11D0D06}"/>
              </a:ext>
            </a:extLst>
          </p:cNvPr>
          <p:cNvSpPr txBox="1"/>
          <p:nvPr/>
        </p:nvSpPr>
        <p:spPr>
          <a:xfrm>
            <a:off x="333080" y="5370286"/>
            <a:ext cx="132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Metadata</a:t>
            </a:r>
          </a:p>
        </p:txBody>
      </p:sp>
    </p:spTree>
    <p:extLst>
      <p:ext uri="{BB962C8B-B14F-4D97-AF65-F5344CB8AC3E}">
        <p14:creationId xmlns:p14="http://schemas.microsoft.com/office/powerpoint/2010/main" val="3923701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9643D-C808-4A76-8D95-FB8296F08A4E}"/>
              </a:ext>
            </a:extLst>
          </p:cNvPr>
          <p:cNvSpPr txBox="1"/>
          <p:nvPr/>
        </p:nvSpPr>
        <p:spPr>
          <a:xfrm>
            <a:off x="304800" y="200025"/>
            <a:ext cx="8420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2) Quality control</a:t>
            </a:r>
          </a:p>
          <a:p>
            <a:endParaRPr lang="en-US" dirty="0"/>
          </a:p>
          <a:p>
            <a:r>
              <a:rPr lang="en-US" dirty="0"/>
              <a:t>Why? There might be some bad cells collected</a:t>
            </a:r>
          </a:p>
          <a:p>
            <a:r>
              <a:rPr lang="en-US" dirty="0"/>
              <a:t>(reason: cell stress during processing, high drop-out)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26D3AB-309C-4232-AF86-C00D3FDDDE52}"/>
              </a:ext>
            </a:extLst>
          </p:cNvPr>
          <p:cNvSpPr txBox="1"/>
          <p:nvPr/>
        </p:nvSpPr>
        <p:spPr>
          <a:xfrm>
            <a:off x="304800" y="4319033"/>
            <a:ext cx="105727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  <a:p>
            <a:r>
              <a:rPr lang="en-US" dirty="0" err="1"/>
              <a:t>ccrcc</a:t>
            </a:r>
            <a:r>
              <a:rPr lang="en-US" dirty="0"/>
              <a:t>[["percent.mt"]] &lt;- </a:t>
            </a:r>
            <a:r>
              <a:rPr lang="en-US" dirty="0" err="1"/>
              <a:t>PercentageFeatureSet</a:t>
            </a:r>
            <a:r>
              <a:rPr lang="en-US" dirty="0"/>
              <a:t>(</a:t>
            </a:r>
            <a:r>
              <a:rPr lang="en-US" dirty="0" err="1"/>
              <a:t>ccrcc</a:t>
            </a:r>
            <a:r>
              <a:rPr lang="en-US" dirty="0"/>
              <a:t>, pattern = "^MT-")</a:t>
            </a:r>
          </a:p>
          <a:p>
            <a:r>
              <a:rPr lang="en-US" dirty="0" err="1"/>
              <a:t>FeatureScatter</a:t>
            </a:r>
            <a:r>
              <a:rPr lang="en-US" dirty="0"/>
              <a:t>(</a:t>
            </a:r>
            <a:r>
              <a:rPr lang="en-US" dirty="0" err="1"/>
              <a:t>ccrcc</a:t>
            </a:r>
            <a:r>
              <a:rPr lang="en-US" dirty="0"/>
              <a:t>, feature1 = "</a:t>
            </a:r>
            <a:r>
              <a:rPr lang="en-US" dirty="0" err="1"/>
              <a:t>nCount_RNA</a:t>
            </a:r>
            <a:r>
              <a:rPr lang="en-US" dirty="0"/>
              <a:t>", feature2 = "percent.mt")</a:t>
            </a:r>
          </a:p>
          <a:p>
            <a:r>
              <a:rPr lang="en-US" dirty="0" err="1"/>
              <a:t>FeatureScatter</a:t>
            </a:r>
            <a:r>
              <a:rPr lang="en-US" dirty="0"/>
              <a:t>(</a:t>
            </a:r>
            <a:r>
              <a:rPr lang="en-US" altLang="ko-KR" dirty="0" err="1"/>
              <a:t>ccrcc</a:t>
            </a:r>
            <a:r>
              <a:rPr lang="en-US" dirty="0"/>
              <a:t>, feature1 = "</a:t>
            </a:r>
            <a:r>
              <a:rPr lang="en-US" dirty="0" err="1"/>
              <a:t>nCount_RNA</a:t>
            </a:r>
            <a:r>
              <a:rPr lang="en-US" dirty="0"/>
              <a:t>", feature2 = "</a:t>
            </a:r>
            <a:r>
              <a:rPr lang="en-US" dirty="0" err="1"/>
              <a:t>nFeature_RNA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 err="1"/>
              <a:t>ccrcc</a:t>
            </a:r>
            <a:r>
              <a:rPr lang="en-US" dirty="0"/>
              <a:t> &lt;- subset(</a:t>
            </a:r>
            <a:r>
              <a:rPr lang="en-US" dirty="0" err="1"/>
              <a:t>ccrcc</a:t>
            </a:r>
            <a:r>
              <a:rPr lang="en-US" dirty="0"/>
              <a:t>, subset = percent.mt &lt; 12.5 &amp; </a:t>
            </a:r>
            <a:r>
              <a:rPr lang="en-US" dirty="0" err="1"/>
              <a:t>nFeature_RNA</a:t>
            </a:r>
            <a:r>
              <a:rPr lang="en-US" dirty="0"/>
              <a:t> &lt; 2500 &amp; </a:t>
            </a:r>
            <a:r>
              <a:rPr lang="en-US" dirty="0" err="1"/>
              <a:t>nFeature_RNA</a:t>
            </a:r>
            <a:r>
              <a:rPr lang="en-US" dirty="0"/>
              <a:t> &gt; 200)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F6B56-35F2-4B83-A050-FF8C15DE43C4}"/>
              </a:ext>
            </a:extLst>
          </p:cNvPr>
          <p:cNvSpPr txBox="1"/>
          <p:nvPr/>
        </p:nvSpPr>
        <p:spPr>
          <a:xfrm>
            <a:off x="6096000" y="477024"/>
            <a:ext cx="454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</a:t>
            </a:r>
            <a:r>
              <a:rPr lang="en-US" dirty="0" err="1"/>
              <a:t>nCount</a:t>
            </a:r>
            <a:r>
              <a:rPr lang="en-US" dirty="0"/>
              <a:t> or </a:t>
            </a:r>
            <a:r>
              <a:rPr lang="en-US" dirty="0" err="1"/>
              <a:t>nFeature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empty droplet</a:t>
            </a:r>
          </a:p>
          <a:p>
            <a:r>
              <a:rPr lang="en-US" dirty="0">
                <a:sym typeface="Wingdings" panose="05000000000000000000" pitchFamily="2" charset="2"/>
              </a:rPr>
              <a:t>High </a:t>
            </a:r>
            <a:r>
              <a:rPr lang="en-US" dirty="0" err="1">
                <a:sym typeface="Wingdings" panose="05000000000000000000" pitchFamily="2" charset="2"/>
              </a:rPr>
              <a:t>nCount</a:t>
            </a:r>
            <a:r>
              <a:rPr lang="en-US" dirty="0">
                <a:sym typeface="Wingdings" panose="05000000000000000000" pitchFamily="2" charset="2"/>
              </a:rPr>
              <a:t> or </a:t>
            </a:r>
            <a:r>
              <a:rPr lang="en-US" dirty="0" err="1">
                <a:sym typeface="Wingdings" panose="05000000000000000000" pitchFamily="2" charset="2"/>
              </a:rPr>
              <a:t>nFeature</a:t>
            </a:r>
            <a:r>
              <a:rPr lang="en-US" dirty="0">
                <a:sym typeface="Wingdings" panose="05000000000000000000" pitchFamily="2" charset="2"/>
              </a:rPr>
              <a:t>  doublet</a:t>
            </a:r>
          </a:p>
          <a:p>
            <a:r>
              <a:rPr lang="en-US" dirty="0">
                <a:sym typeface="Wingdings" panose="05000000000000000000" pitchFamily="2" charset="2"/>
              </a:rPr>
              <a:t>High MT %  dead cell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0577364-E5F8-42E7-B8EB-A32A5EC40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1" y="1901329"/>
            <a:ext cx="4314282" cy="19739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52D7FF-3F04-9EEC-5E01-7E490A09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00354"/>
            <a:ext cx="2709799" cy="27097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D342D4A-B93E-8777-A8DF-82129D37CD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1400353"/>
            <a:ext cx="2709799" cy="2709799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8A5BED6-60AC-7757-93B6-A68C4BB39761}"/>
              </a:ext>
            </a:extLst>
          </p:cNvPr>
          <p:cNvCxnSpPr/>
          <p:nvPr/>
        </p:nvCxnSpPr>
        <p:spPr>
          <a:xfrm>
            <a:off x="594360" y="3489960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1E11BC7-FDA7-2023-0B9C-72E1987F6820}"/>
              </a:ext>
            </a:extLst>
          </p:cNvPr>
          <p:cNvCxnSpPr/>
          <p:nvPr/>
        </p:nvCxnSpPr>
        <p:spPr>
          <a:xfrm>
            <a:off x="3528060" y="2506980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718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F08E5A5-5567-F74C-DE39-4AE7E5EEB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69358"/>
            <a:ext cx="2709799" cy="270979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80D5109-8F6B-C8CD-4FB1-B1B191AC65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569357"/>
            <a:ext cx="2709799" cy="2709799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F84364F-717E-4911-3596-2AD68C6B0AA3}"/>
              </a:ext>
            </a:extLst>
          </p:cNvPr>
          <p:cNvCxnSpPr/>
          <p:nvPr/>
        </p:nvCxnSpPr>
        <p:spPr>
          <a:xfrm>
            <a:off x="594360" y="2658964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F5B96A6-09D5-89BC-08A1-3E2D12F03040}"/>
              </a:ext>
            </a:extLst>
          </p:cNvPr>
          <p:cNvCxnSpPr/>
          <p:nvPr/>
        </p:nvCxnSpPr>
        <p:spPr>
          <a:xfrm>
            <a:off x="3528060" y="1675984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FD3B75-9B74-9398-3577-D3327062768C}"/>
              </a:ext>
            </a:extLst>
          </p:cNvPr>
          <p:cNvSpPr txBox="1"/>
          <p:nvPr/>
        </p:nvSpPr>
        <p:spPr>
          <a:xfrm>
            <a:off x="304800" y="77183"/>
            <a:ext cx="509451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/>
              <a:t>PR1-Normal (12.5, 2500)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82F1FB-5F55-5CFF-98D9-C69AE6A3EC10}"/>
              </a:ext>
            </a:extLst>
          </p:cNvPr>
          <p:cNvSpPr txBox="1"/>
          <p:nvPr/>
        </p:nvSpPr>
        <p:spPr>
          <a:xfrm>
            <a:off x="6320972" y="77183"/>
            <a:ext cx="509451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/>
              <a:t>PR1-tumor </a:t>
            </a:r>
            <a:r>
              <a:rPr lang="en-US" altLang="ko-KR" dirty="0"/>
              <a:t>(15, 3200)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0BC1A-C83A-11F2-945D-1B45FA6FE366}"/>
              </a:ext>
            </a:extLst>
          </p:cNvPr>
          <p:cNvSpPr txBox="1"/>
          <p:nvPr/>
        </p:nvSpPr>
        <p:spPr>
          <a:xfrm>
            <a:off x="304800" y="3580925"/>
            <a:ext cx="509451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/>
              <a:t>PR2-Normal </a:t>
            </a:r>
            <a:r>
              <a:rPr lang="en-US" altLang="ko-KR" dirty="0"/>
              <a:t>(-)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5529B-9836-272A-02A9-FB5082BDCA23}"/>
              </a:ext>
            </a:extLst>
          </p:cNvPr>
          <p:cNvSpPr txBox="1"/>
          <p:nvPr/>
        </p:nvSpPr>
        <p:spPr>
          <a:xfrm>
            <a:off x="6320972" y="3580925"/>
            <a:ext cx="509451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/>
              <a:t>PR2-tumor </a:t>
            </a:r>
            <a:r>
              <a:rPr lang="en-US" altLang="ko-KR" dirty="0"/>
              <a:t>(5, 2000)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C77B601-BEFB-4C34-A906-0A95A675F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28632"/>
            <a:ext cx="2709799" cy="270979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9ED2082-844A-9813-9389-BB0D78581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0" y="567276"/>
            <a:ext cx="2709799" cy="2709799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DE32183-F3A4-4332-412B-989EB5AC3E21}"/>
              </a:ext>
            </a:extLst>
          </p:cNvPr>
          <p:cNvCxnSpPr/>
          <p:nvPr/>
        </p:nvCxnSpPr>
        <p:spPr>
          <a:xfrm>
            <a:off x="6347460" y="2650928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6794DBB-80DC-63B9-4B8A-E1D5F42D5E98}"/>
              </a:ext>
            </a:extLst>
          </p:cNvPr>
          <p:cNvCxnSpPr/>
          <p:nvPr/>
        </p:nvCxnSpPr>
        <p:spPr>
          <a:xfrm>
            <a:off x="9334500" y="1515964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B96744AA-4B33-5B25-3414-846FE679E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358" y="3950258"/>
            <a:ext cx="2709800" cy="27098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4BC70EF-B15A-F31A-26D3-A400F1B91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4665" y="3950257"/>
            <a:ext cx="2709800" cy="27098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9125B2B-F791-9818-36CB-A5FAD9B6C1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3987136"/>
            <a:ext cx="2709799" cy="270979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76C2C94-71C5-21E0-04E6-9125C18F89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7401" y="3950257"/>
            <a:ext cx="2709799" cy="2709799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55D55946-F767-BE77-98B4-4E37F1B5BE53}"/>
              </a:ext>
            </a:extLst>
          </p:cNvPr>
          <p:cNvCxnSpPr/>
          <p:nvPr/>
        </p:nvCxnSpPr>
        <p:spPr>
          <a:xfrm>
            <a:off x="6347460" y="5838628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320FFEC5-E1B4-904B-D1BC-BDBC91557843}"/>
              </a:ext>
            </a:extLst>
          </p:cNvPr>
          <p:cNvCxnSpPr/>
          <p:nvPr/>
        </p:nvCxnSpPr>
        <p:spPr>
          <a:xfrm>
            <a:off x="9515919" y="5059264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692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0F7413-2F6D-1F0F-817D-87363057F146}"/>
              </a:ext>
            </a:extLst>
          </p:cNvPr>
          <p:cNvSpPr txBox="1"/>
          <p:nvPr/>
        </p:nvSpPr>
        <p:spPr>
          <a:xfrm>
            <a:off x="304800" y="77183"/>
            <a:ext cx="509451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/>
              <a:t>PR6-Normal </a:t>
            </a:r>
            <a:r>
              <a:rPr lang="en-US" altLang="ko-KR" dirty="0"/>
              <a:t>(-)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31616-FEE3-DE8E-37CA-B64C7309A05D}"/>
              </a:ext>
            </a:extLst>
          </p:cNvPr>
          <p:cNvSpPr txBox="1"/>
          <p:nvPr/>
        </p:nvSpPr>
        <p:spPr>
          <a:xfrm>
            <a:off x="6320972" y="77183"/>
            <a:ext cx="5094514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dirty="0"/>
              <a:t>PR6-tumor </a:t>
            </a:r>
            <a:r>
              <a:rPr lang="en-US" altLang="ko-KR" dirty="0"/>
              <a:t>(5, 3000)</a:t>
            </a:r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8DF0CB-B771-59F2-6F64-C5614C422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82172"/>
            <a:ext cx="2696028" cy="26960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DE99E5-8BD0-D262-054D-D7C611A33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828" y="682172"/>
            <a:ext cx="2696028" cy="269602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919D8C-69EB-C0F6-5344-873EE1D51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669471"/>
            <a:ext cx="2696029" cy="26960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C33DE49-FF8C-CFD8-FCB9-19BAB46A3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171" y="669470"/>
            <a:ext cx="2696029" cy="2696029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F20F82F-F528-38BE-39D4-6C5C3F755D2D}"/>
              </a:ext>
            </a:extLst>
          </p:cNvPr>
          <p:cNvCxnSpPr/>
          <p:nvPr/>
        </p:nvCxnSpPr>
        <p:spPr>
          <a:xfrm>
            <a:off x="6441728" y="2774917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EDA4786-00FB-7381-8E1F-F23024302260}"/>
              </a:ext>
            </a:extLst>
          </p:cNvPr>
          <p:cNvCxnSpPr/>
          <p:nvPr/>
        </p:nvCxnSpPr>
        <p:spPr>
          <a:xfrm>
            <a:off x="9534773" y="1759883"/>
            <a:ext cx="1661160" cy="0"/>
          </a:xfrm>
          <a:prstGeom prst="line">
            <a:avLst/>
          </a:prstGeom>
          <a:ln w="19050">
            <a:solidFill>
              <a:srgbClr val="0000F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855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54052F-17D1-48EE-80C4-E116B2993223}"/>
              </a:ext>
            </a:extLst>
          </p:cNvPr>
          <p:cNvSpPr txBox="1"/>
          <p:nvPr/>
        </p:nvSpPr>
        <p:spPr>
          <a:xfrm>
            <a:off x="304800" y="200025"/>
            <a:ext cx="9631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3) Normalization &amp; Scaling</a:t>
            </a:r>
          </a:p>
          <a:p>
            <a:endParaRPr lang="en-US" dirty="0"/>
          </a:p>
          <a:p>
            <a:r>
              <a:rPr lang="en-US" dirty="0"/>
              <a:t>Why? </a:t>
            </a:r>
          </a:p>
          <a:p>
            <a:r>
              <a:rPr lang="en-US" dirty="0"/>
              <a:t>Total read count normalization: Adjust read-depth between each cell</a:t>
            </a:r>
          </a:p>
          <a:p>
            <a:r>
              <a:rPr lang="en-US" dirty="0"/>
              <a:t>Log-transformation: adjust the variance of the gene expression matrix </a:t>
            </a:r>
          </a:p>
          <a:p>
            <a:r>
              <a:rPr lang="en-US" dirty="0"/>
              <a:t>Scaling: gives equal weight in downstream analyses, so that highly-expressed genes do not dominate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24196-D0E3-3063-5DF8-664E85C59579}"/>
              </a:ext>
            </a:extLst>
          </p:cNvPr>
          <p:cNvSpPr txBox="1"/>
          <p:nvPr/>
        </p:nvSpPr>
        <p:spPr>
          <a:xfrm>
            <a:off x="304800" y="2391515"/>
            <a:ext cx="10572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  <a:p>
            <a:r>
              <a:rPr lang="en-US" dirty="0" err="1"/>
              <a:t>ccrcc</a:t>
            </a:r>
            <a:r>
              <a:rPr lang="en-US" dirty="0"/>
              <a:t> &lt;- </a:t>
            </a:r>
            <a:r>
              <a:rPr lang="en-US" dirty="0" err="1"/>
              <a:t>NormalizeData</a:t>
            </a:r>
            <a:r>
              <a:rPr lang="en-US" dirty="0"/>
              <a:t>(</a:t>
            </a:r>
            <a:r>
              <a:rPr lang="en-US" altLang="ko-KR" dirty="0" err="1"/>
              <a:t>ccrcc</a:t>
            </a:r>
            <a:r>
              <a:rPr lang="en-US" dirty="0"/>
              <a:t>, </a:t>
            </a:r>
            <a:r>
              <a:rPr lang="en-US" dirty="0" err="1"/>
              <a:t>normalization.method</a:t>
            </a:r>
            <a:r>
              <a:rPr lang="en-US" dirty="0"/>
              <a:t> = "</a:t>
            </a:r>
            <a:r>
              <a:rPr lang="en-US" dirty="0" err="1"/>
              <a:t>LogNormalize</a:t>
            </a:r>
            <a:r>
              <a:rPr lang="en-US" dirty="0"/>
              <a:t>", </a:t>
            </a:r>
            <a:r>
              <a:rPr lang="en-US" dirty="0" err="1"/>
              <a:t>scale.factor</a:t>
            </a:r>
            <a:r>
              <a:rPr lang="en-US" dirty="0"/>
              <a:t> = 10000)</a:t>
            </a:r>
          </a:p>
          <a:p>
            <a:r>
              <a:rPr lang="en-US" altLang="ko-KR" dirty="0" err="1"/>
              <a:t>ccrcc</a:t>
            </a:r>
            <a:r>
              <a:rPr lang="en-US" altLang="ko-KR" dirty="0"/>
              <a:t> &lt;- </a:t>
            </a:r>
            <a:r>
              <a:rPr lang="en-US" altLang="ko-KR" dirty="0" err="1"/>
              <a:t>ScaleData</a:t>
            </a:r>
            <a:r>
              <a:rPr lang="en-US" altLang="ko-KR" dirty="0"/>
              <a:t>(</a:t>
            </a:r>
            <a:r>
              <a:rPr lang="en-US" altLang="ko-KR" dirty="0" err="1"/>
              <a:t>ccrcc</a:t>
            </a:r>
            <a:r>
              <a:rPr lang="en-US" altLang="ko-K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173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7119FB-921E-4BDE-B717-6F8A6637B3F3}"/>
              </a:ext>
            </a:extLst>
          </p:cNvPr>
          <p:cNvSpPr txBox="1"/>
          <p:nvPr/>
        </p:nvSpPr>
        <p:spPr>
          <a:xfrm>
            <a:off x="304800" y="200025"/>
            <a:ext cx="8420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4) Feature selection</a:t>
            </a:r>
          </a:p>
          <a:p>
            <a:endParaRPr lang="en-US" dirty="0"/>
          </a:p>
          <a:p>
            <a:r>
              <a:rPr lang="en-US" dirty="0"/>
              <a:t>Why? </a:t>
            </a:r>
            <a:r>
              <a:rPr lang="en-US" dirty="0" err="1"/>
              <a:t>scRNA</a:t>
            </a:r>
            <a:r>
              <a:rPr lang="en-US" dirty="0"/>
              <a:t>-seq tends to have a lot of drop-out</a:t>
            </a:r>
          </a:p>
          <a:p>
            <a:r>
              <a:rPr lang="en-US" dirty="0">
                <a:sym typeface="Wingdings" panose="05000000000000000000" pitchFamily="2" charset="2"/>
              </a:rPr>
              <a:t> Not all the gene is informative  select informative genes and reduce noise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C9FC6-AA6A-7E94-2D51-80F0D417BA3D}"/>
              </a:ext>
            </a:extLst>
          </p:cNvPr>
          <p:cNvSpPr txBox="1"/>
          <p:nvPr/>
        </p:nvSpPr>
        <p:spPr>
          <a:xfrm>
            <a:off x="304800" y="3191615"/>
            <a:ext cx="10572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  <a:p>
            <a:r>
              <a:rPr lang="en-US" altLang="ko-KR" dirty="0" err="1"/>
              <a:t>ccrcc</a:t>
            </a:r>
            <a:r>
              <a:rPr lang="en-US" dirty="0"/>
              <a:t> &lt;- </a:t>
            </a:r>
            <a:r>
              <a:rPr lang="en-US" dirty="0" err="1"/>
              <a:t>FindVariableFeatures</a:t>
            </a:r>
            <a:r>
              <a:rPr lang="en-US" dirty="0"/>
              <a:t>(</a:t>
            </a:r>
            <a:r>
              <a:rPr lang="en-US" altLang="ko-KR" dirty="0" err="1"/>
              <a:t>ccrcc</a:t>
            </a:r>
            <a:r>
              <a:rPr lang="en-US" dirty="0"/>
              <a:t>, </a:t>
            </a:r>
            <a:r>
              <a:rPr lang="en-US" dirty="0" err="1"/>
              <a:t>selection.method</a:t>
            </a:r>
            <a:r>
              <a:rPr lang="en-US" dirty="0"/>
              <a:t> = "</a:t>
            </a:r>
            <a:r>
              <a:rPr lang="en-US" dirty="0" err="1"/>
              <a:t>vst</a:t>
            </a:r>
            <a:r>
              <a:rPr lang="en-US" dirty="0"/>
              <a:t>", </a:t>
            </a:r>
            <a:r>
              <a:rPr lang="en-US" dirty="0" err="1"/>
              <a:t>nfeatures</a:t>
            </a:r>
            <a:r>
              <a:rPr lang="en-US" dirty="0"/>
              <a:t> = 2000)</a:t>
            </a:r>
          </a:p>
          <a:p>
            <a:r>
              <a:rPr lang="en-US" dirty="0" err="1"/>
              <a:t>variable_list</a:t>
            </a:r>
            <a:r>
              <a:rPr lang="en-US" dirty="0"/>
              <a:t> &lt;- </a:t>
            </a:r>
            <a:r>
              <a:rPr lang="en-US" dirty="0" err="1"/>
              <a:t>VariableFeatures</a:t>
            </a:r>
            <a:r>
              <a:rPr lang="en-US" dirty="0"/>
              <a:t>(</a:t>
            </a:r>
            <a:r>
              <a:rPr lang="en-US" dirty="0" err="1"/>
              <a:t>ccrcc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9769293-D9D9-1C16-39DE-0725F25AA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67665"/>
            <a:ext cx="63531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810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84E6942-B331-3722-A4C4-459FC110A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2227005"/>
            <a:ext cx="3435012" cy="343501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D21634B-0E93-52B7-D257-BB6A08A0C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350" y="2222659"/>
            <a:ext cx="3435012" cy="34350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31CEE2-A647-4CD3-AF66-C2A50D233BA1}"/>
              </a:ext>
            </a:extLst>
          </p:cNvPr>
          <p:cNvSpPr txBox="1"/>
          <p:nvPr/>
        </p:nvSpPr>
        <p:spPr>
          <a:xfrm>
            <a:off x="304799" y="200025"/>
            <a:ext cx="89888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5) Dimension reduction (PCA &amp; UMAP)</a:t>
            </a:r>
          </a:p>
          <a:p>
            <a:endParaRPr lang="en-US" dirty="0"/>
          </a:p>
          <a:p>
            <a:r>
              <a:rPr lang="en-US" dirty="0"/>
              <a:t>Why? Too many features (genes) </a:t>
            </a:r>
            <a:r>
              <a:rPr lang="en-US" dirty="0">
                <a:sym typeface="Wingdings" panose="05000000000000000000" pitchFamily="2" charset="2"/>
              </a:rPr>
              <a:t> hard to interpret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Dimension reduction: abstract of many features!</a:t>
            </a:r>
          </a:p>
          <a:p>
            <a:r>
              <a:rPr lang="en-US" dirty="0">
                <a:sym typeface="Wingdings" panose="05000000000000000000" pitchFamily="2" charset="2"/>
              </a:rPr>
              <a:t>PCA: commonly used in bulk RNA-seq data  insufficient for </a:t>
            </a:r>
            <a:r>
              <a:rPr lang="en-US" dirty="0" err="1">
                <a:sym typeface="Wingdings" panose="05000000000000000000" pitchFamily="2" charset="2"/>
              </a:rPr>
              <a:t>scRNA</a:t>
            </a:r>
            <a:r>
              <a:rPr lang="en-US" dirty="0">
                <a:sym typeface="Wingdings" panose="05000000000000000000" pitchFamily="2" charset="2"/>
              </a:rPr>
              <a:t>-seq</a:t>
            </a:r>
          </a:p>
          <a:p>
            <a:r>
              <a:rPr lang="en-US" dirty="0">
                <a:sym typeface="Wingdings" panose="05000000000000000000" pitchFamily="2" charset="2"/>
              </a:rPr>
              <a:t>UMAP: adjusted for </a:t>
            </a:r>
            <a:r>
              <a:rPr lang="en-US" dirty="0" err="1">
                <a:sym typeface="Wingdings" panose="05000000000000000000" pitchFamily="2" charset="2"/>
              </a:rPr>
              <a:t>scRNA</a:t>
            </a:r>
            <a:r>
              <a:rPr lang="en-US" dirty="0">
                <a:sym typeface="Wingdings" panose="05000000000000000000" pitchFamily="2" charset="2"/>
              </a:rPr>
              <a:t>-seq (similar cells to be close and different cells to be far away)</a:t>
            </a:r>
          </a:p>
          <a:p>
            <a:r>
              <a:rPr lang="en-US" dirty="0">
                <a:sym typeface="Wingdings" panose="05000000000000000000" pitchFamily="2" charset="2"/>
              </a:rPr>
              <a:t>dims: how many axis of PCs to use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13A17-A441-37E2-180B-87930A4B84B0}"/>
              </a:ext>
            </a:extLst>
          </p:cNvPr>
          <p:cNvSpPr txBox="1"/>
          <p:nvPr/>
        </p:nvSpPr>
        <p:spPr>
          <a:xfrm>
            <a:off x="304799" y="5457646"/>
            <a:ext cx="10572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  <a:p>
            <a:r>
              <a:rPr lang="en-US" dirty="0" err="1"/>
              <a:t>ccrcc</a:t>
            </a:r>
            <a:r>
              <a:rPr lang="en-US" dirty="0"/>
              <a:t> &lt;- </a:t>
            </a:r>
            <a:r>
              <a:rPr lang="en-US" dirty="0" err="1"/>
              <a:t>RunPCA</a:t>
            </a:r>
            <a:r>
              <a:rPr lang="en-US" dirty="0"/>
              <a:t>(</a:t>
            </a:r>
            <a:r>
              <a:rPr lang="en-US" altLang="ko-KR" dirty="0" err="1"/>
              <a:t>ccrcc</a:t>
            </a:r>
            <a:r>
              <a:rPr lang="en-US" dirty="0"/>
              <a:t>, </a:t>
            </a:r>
            <a:r>
              <a:rPr lang="en-US" dirty="0" err="1"/>
              <a:t>npcs</a:t>
            </a:r>
            <a:r>
              <a:rPr lang="en-US" dirty="0"/>
              <a:t> = 50)</a:t>
            </a:r>
          </a:p>
          <a:p>
            <a:r>
              <a:rPr lang="en-US" dirty="0" err="1"/>
              <a:t>ccrcc</a:t>
            </a:r>
            <a:r>
              <a:rPr lang="en-US" dirty="0"/>
              <a:t> &lt;- </a:t>
            </a:r>
            <a:r>
              <a:rPr lang="en-US" dirty="0" err="1"/>
              <a:t>RunUMAP</a:t>
            </a:r>
            <a:r>
              <a:rPr lang="en-US" dirty="0"/>
              <a:t>(</a:t>
            </a:r>
            <a:r>
              <a:rPr lang="en-US" dirty="0" err="1"/>
              <a:t>ccrcc</a:t>
            </a:r>
            <a:r>
              <a:rPr lang="en-US" dirty="0"/>
              <a:t>, dims = 1:30)</a:t>
            </a:r>
          </a:p>
          <a:p>
            <a:r>
              <a:rPr lang="en-US" dirty="0" err="1"/>
              <a:t>DimPlot</a:t>
            </a:r>
            <a:r>
              <a:rPr lang="en-US" dirty="0"/>
              <a:t>(</a:t>
            </a:r>
            <a:r>
              <a:rPr lang="en-US" dirty="0" err="1"/>
              <a:t>ccrcc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0252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1CEE2-A647-4CD3-AF66-C2A50D233BA1}"/>
              </a:ext>
            </a:extLst>
          </p:cNvPr>
          <p:cNvSpPr txBox="1"/>
          <p:nvPr/>
        </p:nvSpPr>
        <p:spPr>
          <a:xfrm>
            <a:off x="304800" y="200025"/>
            <a:ext cx="842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6) Batch correction (Harmony)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56031D-67A0-A454-9556-C8D697969140}"/>
              </a:ext>
            </a:extLst>
          </p:cNvPr>
          <p:cNvSpPr txBox="1"/>
          <p:nvPr/>
        </p:nvSpPr>
        <p:spPr>
          <a:xfrm>
            <a:off x="304800" y="1133464"/>
            <a:ext cx="105727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altLang="ko-KR" dirty="0"/>
              <a:t>total&lt;-merge(</a:t>
            </a:r>
            <a:r>
              <a:rPr lang="en-US" altLang="ko-KR" dirty="0"/>
              <a:t>ccrcc1</a:t>
            </a:r>
            <a:r>
              <a:rPr lang="es-ES" altLang="ko-KR" dirty="0"/>
              <a:t>,y= c(</a:t>
            </a:r>
            <a:r>
              <a:rPr lang="en-US" altLang="ko-KR" dirty="0"/>
              <a:t>ccrcc2,ccrcc3,ccrcc4,ccrcc5,ccrcc6</a:t>
            </a:r>
            <a:r>
              <a:rPr lang="es-ES" altLang="ko-KR" dirty="0"/>
              <a:t>))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altLang="ko-KR" dirty="0"/>
              <a:t>total&lt;-NormalizeData(total)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altLang="ko-KR" dirty="0"/>
              <a:t>total&lt;- ScaleData(total)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altLang="ko-KR" dirty="0"/>
              <a:t>total&lt;- FindVariableFeatures(total, selection.method = "vst", nfeatures = 2000)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altLang="ko-KR" dirty="0"/>
              <a:t>total&lt;- RunPCA(ccrcc1, npcs = 50)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altLang="ko-KR" dirty="0"/>
              <a:t>total &lt;- RunUMAP(ccrcc1, dims = 1:30)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s-ES" altLang="ko-KR" dirty="0"/>
              <a:t>DimPlot(total, group.by = </a:t>
            </a:r>
            <a:r>
              <a:rPr lang="en-US" altLang="ko-KR" dirty="0"/>
              <a:t>"</a:t>
            </a:r>
            <a:r>
              <a:rPr lang="es-ES" altLang="ko-KR" dirty="0"/>
              <a:t>sample</a:t>
            </a:r>
            <a:r>
              <a:rPr lang="en-US" altLang="ko-KR" dirty="0"/>
              <a:t>"</a:t>
            </a:r>
            <a:r>
              <a:rPr lang="es-ES" altLang="ko-KR" dirty="0"/>
              <a:t>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s-ES" altLang="ko-KR" dirty="0"/>
          </a:p>
          <a:p>
            <a:r>
              <a:rPr lang="es-ES" altLang="ko-KR" dirty="0"/>
              <a:t>total 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&lt;-</a:t>
            </a: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RunHarmony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(total, c(“sample"), </a:t>
            </a: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dims.use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 1:30, </a:t>
            </a:r>
            <a:r>
              <a:rPr lang="en-US" altLang="ko-KR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plot_convergence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=F)</a:t>
            </a:r>
          </a:p>
          <a:p>
            <a:r>
              <a:rPr lang="es-ES" altLang="ko-KR" dirty="0"/>
              <a:t>total</a:t>
            </a:r>
            <a:r>
              <a:rPr lang="en-US" altLang="ko-KR" dirty="0"/>
              <a:t> &lt;- </a:t>
            </a:r>
            <a:r>
              <a:rPr lang="en-US" altLang="ko-KR" dirty="0" err="1"/>
              <a:t>RunUMAP</a:t>
            </a:r>
            <a:r>
              <a:rPr lang="en-US" altLang="ko-KR" dirty="0"/>
              <a:t>(</a:t>
            </a:r>
            <a:r>
              <a:rPr lang="es-ES" altLang="ko-KR" dirty="0"/>
              <a:t>total</a:t>
            </a:r>
            <a:r>
              <a:rPr lang="en-US" altLang="ko-KR" dirty="0"/>
              <a:t>, reduction= "harmony",  dims = 1:30)</a:t>
            </a:r>
          </a:p>
          <a:p>
            <a:r>
              <a:rPr lang="es-ES" altLang="ko-KR" dirty="0"/>
              <a:t>DimPlot(total, group.by = </a:t>
            </a:r>
            <a:r>
              <a:rPr lang="en-US" altLang="ko-KR" dirty="0"/>
              <a:t>"</a:t>
            </a:r>
            <a:r>
              <a:rPr lang="es-ES" altLang="ko-KR" dirty="0"/>
              <a:t>sample</a:t>
            </a:r>
            <a:r>
              <a:rPr lang="en-US" altLang="ko-KR" dirty="0"/>
              <a:t>"</a:t>
            </a:r>
            <a:r>
              <a:rPr lang="es-ES" altLang="ko-KR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503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1CEE2-A647-4CD3-AF66-C2A50D233BA1}"/>
              </a:ext>
            </a:extLst>
          </p:cNvPr>
          <p:cNvSpPr txBox="1"/>
          <p:nvPr/>
        </p:nvSpPr>
        <p:spPr>
          <a:xfrm>
            <a:off x="304800" y="200025"/>
            <a:ext cx="8420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6) Batch correction (Harmony)</a:t>
            </a:r>
          </a:p>
          <a:p>
            <a:endParaRPr lang="en-US" dirty="0"/>
          </a:p>
          <a:p>
            <a:r>
              <a:rPr lang="en-US" dirty="0"/>
              <a:t>Why? </a:t>
            </a:r>
            <a:r>
              <a:rPr lang="en-US" altLang="ko-KR" dirty="0"/>
              <a:t>To remove technical variation between samples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B03A2F-7A46-3E38-DFB3-7C43A2545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23" y="1222123"/>
            <a:ext cx="4572000" cy="4572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B38EB6A-4F34-77E1-626D-5509D3803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23355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93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F6129D3B-D8EE-0F77-11DC-235146B51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16" y="1179916"/>
            <a:ext cx="3653141" cy="365314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DE284F-0570-1E69-00C4-B9F7406A4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504" y="1123355"/>
            <a:ext cx="3653141" cy="365314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059BA48-225B-6D4E-E5F9-6B3C0AF97D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801" y="1163126"/>
            <a:ext cx="3653141" cy="36531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31CEE2-A647-4CD3-AF66-C2A50D233BA1}"/>
              </a:ext>
            </a:extLst>
          </p:cNvPr>
          <p:cNvSpPr txBox="1"/>
          <p:nvPr/>
        </p:nvSpPr>
        <p:spPr>
          <a:xfrm>
            <a:off x="304800" y="200025"/>
            <a:ext cx="8420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7) Clustering</a:t>
            </a:r>
          </a:p>
          <a:p>
            <a:endParaRPr lang="en-US" dirty="0"/>
          </a:p>
          <a:p>
            <a:r>
              <a:rPr lang="en-US" dirty="0"/>
              <a:t>Resolution </a:t>
            </a:r>
            <a:r>
              <a:rPr lang="en-US" dirty="0">
                <a:sym typeface="Wingdings" panose="05000000000000000000" pitchFamily="2" charset="2"/>
              </a:rPr>
              <a:t> controls the number of clusters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A219BB-F23B-86B6-F2FE-453BAE910321}"/>
              </a:ext>
            </a:extLst>
          </p:cNvPr>
          <p:cNvSpPr txBox="1"/>
          <p:nvPr/>
        </p:nvSpPr>
        <p:spPr>
          <a:xfrm>
            <a:off x="304800" y="4889618"/>
            <a:ext cx="10572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Script</a:t>
            </a:r>
            <a:br>
              <a:rPr lang="en-US" altLang="ko-KR" dirty="0"/>
            </a:br>
            <a:endParaRPr lang="en-US" dirty="0"/>
          </a:p>
          <a:p>
            <a:r>
              <a:rPr lang="en-US" dirty="0"/>
              <a:t>total &lt;- </a:t>
            </a:r>
            <a:r>
              <a:rPr lang="en-US" dirty="0" err="1"/>
              <a:t>FindNeighbors</a:t>
            </a:r>
            <a:r>
              <a:rPr lang="en-US" dirty="0"/>
              <a:t>(</a:t>
            </a:r>
            <a:r>
              <a:rPr lang="en-US" altLang="ko-KR" dirty="0"/>
              <a:t>total</a:t>
            </a:r>
            <a:r>
              <a:rPr lang="en-US" dirty="0"/>
              <a:t>, reduction = "harmony", dims = 1:30)</a:t>
            </a:r>
          </a:p>
          <a:p>
            <a:r>
              <a:rPr lang="en-US" altLang="ko-KR" dirty="0"/>
              <a:t>total</a:t>
            </a:r>
            <a:r>
              <a:rPr lang="en-US" dirty="0"/>
              <a:t> &lt;- </a:t>
            </a:r>
            <a:r>
              <a:rPr lang="en-US" dirty="0" err="1"/>
              <a:t>FindClusters</a:t>
            </a:r>
            <a:r>
              <a:rPr lang="en-US" dirty="0"/>
              <a:t>(total, resolution = 0.3)</a:t>
            </a:r>
          </a:p>
          <a:p>
            <a:r>
              <a:rPr lang="en-US" dirty="0" err="1"/>
              <a:t>DimPlot</a:t>
            </a:r>
            <a:r>
              <a:rPr lang="en-US" dirty="0"/>
              <a:t>(total, group.by = </a:t>
            </a:r>
            <a:r>
              <a:rPr lang="en-US" altLang="ko-KR" dirty="0"/>
              <a:t>"</a:t>
            </a:r>
            <a:r>
              <a:rPr lang="en-US" dirty="0" err="1"/>
              <a:t>seurat_clusters</a:t>
            </a:r>
            <a:r>
              <a:rPr lang="en-US" altLang="ko-KR" dirty="0"/>
              <a:t>", label = T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FD23E-F2FB-27FC-E817-CB64FE12870A}"/>
              </a:ext>
            </a:extLst>
          </p:cNvPr>
          <p:cNvSpPr txBox="1"/>
          <p:nvPr/>
        </p:nvSpPr>
        <p:spPr>
          <a:xfrm>
            <a:off x="6894136" y="1236477"/>
            <a:ext cx="106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Res: 0.5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956096-61C2-4CC1-8E8F-A6C359C8C08B}"/>
              </a:ext>
            </a:extLst>
          </p:cNvPr>
          <p:cNvSpPr txBox="1"/>
          <p:nvPr/>
        </p:nvSpPr>
        <p:spPr>
          <a:xfrm>
            <a:off x="10675855" y="1236477"/>
            <a:ext cx="106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Res: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B2D80-6C46-EDB6-A01D-E6BE90B72DB0}"/>
              </a:ext>
            </a:extLst>
          </p:cNvPr>
          <p:cNvSpPr txBox="1"/>
          <p:nvPr/>
        </p:nvSpPr>
        <p:spPr>
          <a:xfrm>
            <a:off x="2747736" y="1236477"/>
            <a:ext cx="1062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Res: 0.3</a:t>
            </a:r>
          </a:p>
        </p:txBody>
      </p:sp>
    </p:spTree>
    <p:extLst>
      <p:ext uri="{BB962C8B-B14F-4D97-AF65-F5344CB8AC3E}">
        <p14:creationId xmlns:p14="http://schemas.microsoft.com/office/powerpoint/2010/main" val="2194193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1CEE2-A647-4CD3-AF66-C2A50D233BA1}"/>
              </a:ext>
            </a:extLst>
          </p:cNvPr>
          <p:cNvSpPr txBox="1"/>
          <p:nvPr/>
        </p:nvSpPr>
        <p:spPr>
          <a:xfrm>
            <a:off x="304800" y="200025"/>
            <a:ext cx="84201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8) </a:t>
            </a:r>
            <a:r>
              <a:rPr lang="en-US" dirty="0" err="1"/>
              <a:t>Celltype</a:t>
            </a:r>
            <a:r>
              <a:rPr lang="en-US" dirty="0"/>
              <a:t> annotation</a:t>
            </a:r>
          </a:p>
          <a:p>
            <a:endParaRPr lang="en-US" dirty="0"/>
          </a:p>
          <a:p>
            <a:r>
              <a:rPr lang="en-US" dirty="0"/>
              <a:t>How? Distribution of marker gene expression</a:t>
            </a:r>
          </a:p>
          <a:p>
            <a:endParaRPr lang="en-US" dirty="0"/>
          </a:p>
          <a:p>
            <a:r>
              <a:rPr lang="en-US" dirty="0"/>
              <a:t>* Immune cell</a:t>
            </a:r>
          </a:p>
          <a:p>
            <a:r>
              <a:rPr lang="en-US" dirty="0" err="1"/>
              <a:t>Tcell</a:t>
            </a:r>
            <a:r>
              <a:rPr lang="en-US" dirty="0"/>
              <a:t>: "CD3D", "CD3E"</a:t>
            </a:r>
          </a:p>
          <a:p>
            <a:r>
              <a:rPr lang="en-US" dirty="0"/>
              <a:t>CD4 T cell: </a:t>
            </a:r>
            <a:r>
              <a:rPr lang="en-US" altLang="ko-KR" dirty="0"/>
              <a:t>"CD4"</a:t>
            </a:r>
            <a:endParaRPr lang="en-US" dirty="0"/>
          </a:p>
          <a:p>
            <a:r>
              <a:rPr lang="en-US" dirty="0"/>
              <a:t>CD8 T cell: </a:t>
            </a:r>
            <a:r>
              <a:rPr lang="en-US" altLang="ko-KR" dirty="0"/>
              <a:t>"CD8A", "CD8B"</a:t>
            </a:r>
            <a:endParaRPr lang="en-US" dirty="0"/>
          </a:p>
          <a:p>
            <a:r>
              <a:rPr lang="en-US" dirty="0"/>
              <a:t>Treg: </a:t>
            </a:r>
            <a:r>
              <a:rPr lang="en-US" altLang="ko-KR" dirty="0"/>
              <a:t>"FOXP3", "IL2RA"</a:t>
            </a:r>
            <a:endParaRPr lang="en-US" dirty="0"/>
          </a:p>
          <a:p>
            <a:r>
              <a:rPr lang="en-US" dirty="0"/>
              <a:t>NK cell: </a:t>
            </a:r>
            <a:r>
              <a:rPr lang="en-US" altLang="ko-KR" dirty="0"/>
              <a:t>"KLRB1",   "GNLY",   "KLRD1",   "NKG7"</a:t>
            </a:r>
            <a:endParaRPr lang="en-US" dirty="0"/>
          </a:p>
          <a:p>
            <a:r>
              <a:rPr lang="en-US" dirty="0"/>
              <a:t>B cell: </a:t>
            </a:r>
            <a:r>
              <a:rPr lang="en-US" altLang="ko-KR" dirty="0"/>
              <a:t>"MS4A1", "CD79B"</a:t>
            </a:r>
            <a:endParaRPr lang="en-US" dirty="0"/>
          </a:p>
          <a:p>
            <a:r>
              <a:rPr lang="en-US" dirty="0"/>
              <a:t>Macrophage: </a:t>
            </a:r>
            <a:r>
              <a:rPr lang="en-US" altLang="ko-KR" dirty="0"/>
              <a:t>"C1QA", "C1QB", "CD14", "CD68"</a:t>
            </a:r>
            <a:endParaRPr lang="en-US" dirty="0"/>
          </a:p>
          <a:p>
            <a:r>
              <a:rPr lang="en-US" dirty="0"/>
              <a:t>Monocyte: </a:t>
            </a:r>
            <a:r>
              <a:rPr lang="en-US" altLang="ko-KR" dirty="0"/>
              <a:t>"FCN1","S100A8",   "S100A9"</a:t>
            </a:r>
            <a:endParaRPr lang="en-US" dirty="0"/>
          </a:p>
          <a:p>
            <a:r>
              <a:rPr lang="en-US" dirty="0"/>
              <a:t>Mast: </a:t>
            </a:r>
            <a:r>
              <a:rPr lang="en-US" altLang="ko-KR" dirty="0"/>
              <a:t>"TPSAB1",   "CPA3“</a:t>
            </a:r>
          </a:p>
          <a:p>
            <a:r>
              <a:rPr lang="en-US" dirty="0"/>
              <a:t>Cycling: </a:t>
            </a:r>
            <a:r>
              <a:rPr lang="en-US" altLang="ko-KR" dirty="0"/>
              <a:t>"MKI67",   "TOP2A“</a:t>
            </a:r>
          </a:p>
          <a:p>
            <a:endParaRPr lang="en-US" dirty="0"/>
          </a:p>
          <a:p>
            <a:r>
              <a:rPr lang="en-US" dirty="0"/>
              <a:t>* Non-immune cell</a:t>
            </a:r>
          </a:p>
          <a:p>
            <a:r>
              <a:rPr lang="en-US" dirty="0"/>
              <a:t>Pericyte: </a:t>
            </a:r>
            <a:r>
              <a:rPr lang="en-US" altLang="ko-KR" dirty="0"/>
              <a:t>"CSPG4", "MCAM", "MYH11"</a:t>
            </a:r>
            <a:endParaRPr lang="en-US" dirty="0"/>
          </a:p>
          <a:p>
            <a:r>
              <a:rPr lang="en-US" dirty="0"/>
              <a:t>Endothelial cell: </a:t>
            </a:r>
            <a:r>
              <a:rPr lang="en-US" altLang="ko-KR" dirty="0"/>
              <a:t>"RAMP2",   "RNASE1",   "ENG",   "EGFL7"</a:t>
            </a:r>
            <a:endParaRPr lang="en-US" dirty="0"/>
          </a:p>
          <a:p>
            <a:r>
              <a:rPr lang="en-US" dirty="0"/>
              <a:t>Cancer: </a:t>
            </a:r>
            <a:r>
              <a:rPr lang="en-US" altLang="ko-KR" dirty="0"/>
              <a:t>"PAX8"</a:t>
            </a:r>
            <a:endParaRPr lang="en-US" dirty="0"/>
          </a:p>
          <a:p>
            <a:r>
              <a:rPr lang="en-US" dirty="0"/>
              <a:t>Epithelial cell: </a:t>
            </a:r>
            <a:r>
              <a:rPr lang="en-US" altLang="ko-KR" dirty="0"/>
              <a:t>"SLC26A7",   "EPCAM",  "MUC1"</a:t>
            </a:r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757300-1CF3-88CF-B632-CA4BEB484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490980"/>
            <a:ext cx="596265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198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1CEE2-A647-4CD3-AF66-C2A50D233BA1}"/>
              </a:ext>
            </a:extLst>
          </p:cNvPr>
          <p:cNvSpPr txBox="1"/>
          <p:nvPr/>
        </p:nvSpPr>
        <p:spPr>
          <a:xfrm>
            <a:off x="304800" y="200025"/>
            <a:ext cx="842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8) </a:t>
            </a:r>
            <a:r>
              <a:rPr lang="en-US" dirty="0" err="1"/>
              <a:t>Celltype</a:t>
            </a:r>
            <a:r>
              <a:rPr lang="en-US" dirty="0"/>
              <a:t> annotation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9FB5E-EA80-17DD-C72C-94F071D86F61}"/>
              </a:ext>
            </a:extLst>
          </p:cNvPr>
          <p:cNvSpPr txBox="1"/>
          <p:nvPr/>
        </p:nvSpPr>
        <p:spPr>
          <a:xfrm>
            <a:off x="304800" y="635341"/>
            <a:ext cx="117824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  <a:p>
            <a:r>
              <a:rPr lang="en-US" dirty="0"/>
              <a:t>marker &lt;- </a:t>
            </a:r>
            <a:r>
              <a:rPr lang="en-US" dirty="0" err="1"/>
              <a:t>FindAllMarkers</a:t>
            </a:r>
            <a:r>
              <a:rPr lang="en-US" dirty="0"/>
              <a:t>(</a:t>
            </a:r>
            <a:r>
              <a:rPr lang="en-US" altLang="ko-KR" dirty="0"/>
              <a:t>total</a:t>
            </a:r>
            <a:r>
              <a:rPr lang="en-US" dirty="0"/>
              <a:t>, </a:t>
            </a:r>
            <a:r>
              <a:rPr lang="en-US" dirty="0" err="1"/>
              <a:t>only.pos</a:t>
            </a:r>
            <a:r>
              <a:rPr lang="en-US" dirty="0"/>
              <a:t> = TRUE, min.pct = 0.25, </a:t>
            </a:r>
            <a:r>
              <a:rPr lang="en-US" dirty="0" err="1"/>
              <a:t>logfc.threshold</a:t>
            </a:r>
            <a:r>
              <a:rPr lang="en-US" dirty="0"/>
              <a:t> = 0.25)</a:t>
            </a:r>
          </a:p>
          <a:p>
            <a:endParaRPr lang="en-US" altLang="ko-KR" dirty="0"/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/>
              <a:t>#tcell NK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png</a:t>
            </a:r>
            <a:r>
              <a:rPr lang="en-US" altLang="ko-KR" dirty="0"/>
              <a:t>("tcell.png", width = 1600, height = 1200)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FeaturePlot</a:t>
            </a:r>
            <a:r>
              <a:rPr lang="en-US" altLang="ko-KR" dirty="0"/>
              <a:t>(total, features = c("CD3D", "CD3E", "CD4", "CD8A", "CD8B", "FOXP3", "IL2RA",    "KLRB1",   "GNLY",   "KLRD1",   "NKG7"))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dev.off</a:t>
            </a:r>
            <a:r>
              <a:rPr lang="en-US" altLang="ko-KR" dirty="0"/>
              <a:t>()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altLang="ko-KR" dirty="0"/>
            </a:br>
            <a:r>
              <a:rPr lang="en-US" altLang="ko-KR" dirty="0"/>
              <a:t>#bcell, macrophage, mast, #DC, monocyte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png</a:t>
            </a:r>
            <a:r>
              <a:rPr lang="en-US" altLang="ko-KR" dirty="0"/>
              <a:t>("bcell_myeloid.png", width = 1600, height = 1200)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FeaturePlot</a:t>
            </a:r>
            <a:r>
              <a:rPr lang="en-US" altLang="ko-KR" dirty="0"/>
              <a:t>(total, features = c("MS4A1", "CD79B", "C1QA", "C1QB", "CD14", "CD68", "TPSAB1",   "CPA3",    "FCN1","S100A8",   "S100A9"))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dev.off</a:t>
            </a:r>
            <a:r>
              <a:rPr lang="en-US" altLang="ko-KR" dirty="0"/>
              <a:t>()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altLang="ko-K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86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1CEE2-A647-4CD3-AF66-C2A50D233BA1}"/>
              </a:ext>
            </a:extLst>
          </p:cNvPr>
          <p:cNvSpPr txBox="1"/>
          <p:nvPr/>
        </p:nvSpPr>
        <p:spPr>
          <a:xfrm>
            <a:off x="304800" y="200025"/>
            <a:ext cx="842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8) </a:t>
            </a:r>
            <a:r>
              <a:rPr lang="en-US" dirty="0" err="1"/>
              <a:t>Celltype</a:t>
            </a:r>
            <a:r>
              <a:rPr lang="en-US" dirty="0"/>
              <a:t> annotation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9FB5E-EA80-17DD-C72C-94F071D86F61}"/>
              </a:ext>
            </a:extLst>
          </p:cNvPr>
          <p:cNvSpPr txBox="1"/>
          <p:nvPr/>
        </p:nvSpPr>
        <p:spPr>
          <a:xfrm>
            <a:off x="304800" y="635341"/>
            <a:ext cx="117824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/>
              <a:t>#pericyte, endothelial cell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png</a:t>
            </a:r>
            <a:r>
              <a:rPr lang="en-US" altLang="ko-KR" dirty="0"/>
              <a:t>("stroma.png", width = 1600, height = 1200)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FeaturePlot</a:t>
            </a:r>
            <a:r>
              <a:rPr lang="en-US" altLang="ko-KR" dirty="0"/>
              <a:t>(total, features = c("CSPG4", "MCAM", "MYH11",   "RAMP2",   "RNASE1",   "ENG",   "EGFL7"))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dev.off</a:t>
            </a:r>
            <a:r>
              <a:rPr lang="en-US" altLang="ko-KR" dirty="0"/>
              <a:t>()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altLang="ko-KR" dirty="0"/>
            </a:br>
            <a:r>
              <a:rPr lang="en-US" altLang="ko-KR" dirty="0"/>
              <a:t>#tumor, kidney epithelial cell, cycling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png</a:t>
            </a:r>
            <a:r>
              <a:rPr lang="en-US" altLang="ko-KR" dirty="0"/>
              <a:t>("epi.png", width = 1600, height = 1200)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FeaturePlot</a:t>
            </a:r>
            <a:r>
              <a:rPr lang="en-US" altLang="ko-KR" dirty="0"/>
              <a:t>(total, features = c("PAX8",  "SLC26A7",   "EPCAM",  "MUC1", "MKI67",   "TOP2A"))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altLang="ko-KR" dirty="0" err="1"/>
              <a:t>dev.off</a:t>
            </a:r>
            <a:r>
              <a:rPr lang="en-US" altLang="ko-KR" dirty="0"/>
              <a:t>()</a:t>
            </a:r>
          </a:p>
          <a:p>
            <a:endParaRPr lang="en-US" altLang="ko-KR" dirty="0"/>
          </a:p>
          <a:p>
            <a:r>
              <a:rPr lang="en-US" altLang="ko-KR" dirty="0"/>
              <a:t>###</a:t>
            </a:r>
          </a:p>
          <a:p>
            <a:r>
              <a:rPr lang="en-US" altLang="ko-KR" dirty="0"/>
              <a:t>total &lt;- </a:t>
            </a:r>
            <a:r>
              <a:rPr lang="en-US" altLang="ko-KR" dirty="0" err="1"/>
              <a:t>RenameIdents</a:t>
            </a:r>
            <a:r>
              <a:rPr lang="en-US" altLang="ko-KR" dirty="0"/>
              <a:t>(total, '0' = 'tumor1', '1' = 'CD4_Tcell', '2' = 'CD8_Tcell','3' = 'pericyte','4' = 'macrophage','5' = 'NK','7' = 'endothelial','8' = 'tumor2','9' = 'Bcell','10' = 'tumor3', '6' = 'monocyte', '11' = '</a:t>
            </a:r>
            <a:r>
              <a:rPr lang="en-US" altLang="ko-KR" dirty="0" err="1"/>
              <a:t>cycling_Tcell</a:t>
            </a:r>
            <a:r>
              <a:rPr lang="en-US" altLang="ko-KR" dirty="0"/>
              <a:t>', '12' = 'Treg', '13' = 'mast', '14' = 'unknown1', '15' = 'unknown2')</a:t>
            </a:r>
          </a:p>
          <a:p>
            <a:endParaRPr lang="en-US" altLang="ko-KR" dirty="0"/>
          </a:p>
          <a:p>
            <a:r>
              <a:rPr lang="en-US" altLang="ko-KR" dirty="0" err="1"/>
              <a:t>total$celltype</a:t>
            </a:r>
            <a:r>
              <a:rPr lang="en-US" altLang="ko-KR" dirty="0"/>
              <a:t> &lt;- </a:t>
            </a:r>
            <a:r>
              <a:rPr lang="en-US" altLang="ko-KR" dirty="0" err="1"/>
              <a:t>total@active.ident</a:t>
            </a:r>
            <a:endParaRPr lang="en-US" altLang="ko-KR" dirty="0"/>
          </a:p>
          <a:p>
            <a:r>
              <a:rPr lang="en-US" altLang="ko-KR" dirty="0" err="1"/>
              <a:t>DimPlot</a:t>
            </a:r>
            <a:r>
              <a:rPr lang="en-US" altLang="ko-KR" dirty="0"/>
              <a:t>(total, group.by = "</a:t>
            </a:r>
            <a:r>
              <a:rPr lang="en-US" altLang="ko-KR" dirty="0" err="1"/>
              <a:t>celltype</a:t>
            </a:r>
            <a:r>
              <a:rPr lang="en-US" altLang="ko-KR" dirty="0"/>
              <a:t>", label = T)</a:t>
            </a:r>
          </a:p>
        </p:txBody>
      </p:sp>
    </p:spTree>
    <p:extLst>
      <p:ext uri="{BB962C8B-B14F-4D97-AF65-F5344CB8AC3E}">
        <p14:creationId xmlns:p14="http://schemas.microsoft.com/office/powerpoint/2010/main" val="2686028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0D808B-F8CD-57D0-08FA-5D2FD68A54E2}"/>
              </a:ext>
            </a:extLst>
          </p:cNvPr>
          <p:cNvSpPr txBox="1"/>
          <p:nvPr/>
        </p:nvSpPr>
        <p:spPr>
          <a:xfrm>
            <a:off x="304800" y="200025"/>
            <a:ext cx="842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8) </a:t>
            </a:r>
            <a:r>
              <a:rPr lang="en-US" dirty="0" err="1"/>
              <a:t>Celltype</a:t>
            </a:r>
            <a:r>
              <a:rPr lang="en-US" dirty="0"/>
              <a:t> annotation</a:t>
            </a:r>
          </a:p>
          <a:p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745082-5230-EB0F-D621-2AEB7B02F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548640"/>
            <a:ext cx="6309360" cy="6309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19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C28B346-61F7-675E-7A91-708B790B958D}"/>
              </a:ext>
            </a:extLst>
          </p:cNvPr>
          <p:cNvSpPr txBox="1"/>
          <p:nvPr/>
        </p:nvSpPr>
        <p:spPr>
          <a:xfrm>
            <a:off x="0" y="98425"/>
            <a:ext cx="842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cell and NK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CE3FDD-AB26-C801-7476-C20FCA5AD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104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2ADD1B-C085-6795-D209-49B2FE0F1EC8}"/>
              </a:ext>
            </a:extLst>
          </p:cNvPr>
          <p:cNvSpPr txBox="1"/>
          <p:nvPr/>
        </p:nvSpPr>
        <p:spPr>
          <a:xfrm>
            <a:off x="0" y="98425"/>
            <a:ext cx="842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Bcell</a:t>
            </a:r>
            <a:r>
              <a:rPr lang="en-US" dirty="0"/>
              <a:t> and myeloid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CEFA87B-0B14-49EF-65A6-3011006A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413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638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CBFC04-6042-ADCD-165A-D9FEB37DAB48}"/>
              </a:ext>
            </a:extLst>
          </p:cNvPr>
          <p:cNvSpPr txBox="1"/>
          <p:nvPr/>
        </p:nvSpPr>
        <p:spPr>
          <a:xfrm>
            <a:off x="0" y="98425"/>
            <a:ext cx="842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Stroma cell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A5AADD-9E96-7449-CC72-360718C5B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84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60E248-367D-2E34-176F-8344861F142E}"/>
              </a:ext>
            </a:extLst>
          </p:cNvPr>
          <p:cNvSpPr txBox="1"/>
          <p:nvPr/>
        </p:nvSpPr>
        <p:spPr>
          <a:xfrm>
            <a:off x="0" y="98425"/>
            <a:ext cx="842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Epithelial and tumor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C0E45C-894E-C549-196C-B71834FFE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24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31CEE2-A647-4CD3-AF66-C2A50D233BA1}"/>
              </a:ext>
            </a:extLst>
          </p:cNvPr>
          <p:cNvSpPr txBox="1"/>
          <p:nvPr/>
        </p:nvSpPr>
        <p:spPr>
          <a:xfrm>
            <a:off x="304800" y="200025"/>
            <a:ext cx="8420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9) Differentially expressed gene analysis between two groups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34F514-EA86-CF2C-2B97-1D8D1829DF39}"/>
              </a:ext>
            </a:extLst>
          </p:cNvPr>
          <p:cNvSpPr txBox="1"/>
          <p:nvPr/>
        </p:nvSpPr>
        <p:spPr>
          <a:xfrm>
            <a:off x="386862" y="4104199"/>
            <a:ext cx="105727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  <a:p>
            <a:r>
              <a:rPr lang="en-US" dirty="0" err="1"/>
              <a:t>total$group_celltype</a:t>
            </a:r>
            <a:r>
              <a:rPr lang="en-US" dirty="0"/>
              <a:t> &lt;- paste(</a:t>
            </a:r>
            <a:r>
              <a:rPr lang="en-US" dirty="0" err="1"/>
              <a:t>total$group</a:t>
            </a:r>
            <a:r>
              <a:rPr lang="en-US" dirty="0"/>
              <a:t>, </a:t>
            </a:r>
            <a:r>
              <a:rPr lang="en-US" dirty="0" err="1"/>
              <a:t>total$celltype</a:t>
            </a:r>
            <a:r>
              <a:rPr lang="en-US" dirty="0"/>
              <a:t>, </a:t>
            </a:r>
            <a:r>
              <a:rPr lang="en-US" dirty="0" err="1"/>
              <a:t>sep</a:t>
            </a:r>
            <a:r>
              <a:rPr lang="en-US" dirty="0"/>
              <a:t> = "_")</a:t>
            </a:r>
          </a:p>
          <a:p>
            <a:r>
              <a:rPr lang="en-US" dirty="0" err="1"/>
              <a:t>total@active.ident</a:t>
            </a:r>
            <a:r>
              <a:rPr lang="en-US" dirty="0"/>
              <a:t>&lt;-</a:t>
            </a:r>
            <a:r>
              <a:rPr lang="en-US" dirty="0" err="1"/>
              <a:t>as.factor</a:t>
            </a:r>
            <a:r>
              <a:rPr lang="en-US" dirty="0"/>
              <a:t>(</a:t>
            </a:r>
            <a:r>
              <a:rPr lang="en-US" dirty="0" err="1"/>
              <a:t>total$group_celltype</a:t>
            </a:r>
            <a:r>
              <a:rPr lang="en-US" dirty="0"/>
              <a:t>)</a:t>
            </a:r>
          </a:p>
          <a:p>
            <a:r>
              <a:rPr lang="en-US" dirty="0"/>
              <a:t>cell1 &lt;- "tumor_CD8_Tcell"</a:t>
            </a:r>
          </a:p>
          <a:p>
            <a:r>
              <a:rPr lang="en-US" dirty="0"/>
              <a:t>cell2 &lt;- "normal_CD8_Tcell"</a:t>
            </a:r>
          </a:p>
          <a:p>
            <a:endParaRPr lang="en-US" dirty="0"/>
          </a:p>
          <a:p>
            <a:r>
              <a:rPr lang="en-US" dirty="0" err="1"/>
              <a:t>deg_cell</a:t>
            </a:r>
            <a:r>
              <a:rPr lang="en-US" dirty="0"/>
              <a:t> &lt;- </a:t>
            </a:r>
            <a:r>
              <a:rPr lang="en-US" dirty="0" err="1"/>
              <a:t>FindMarkers</a:t>
            </a:r>
            <a:r>
              <a:rPr lang="en-US" dirty="0"/>
              <a:t>(total, ident.1 = cell1, ident.2 = cell2, min.pct = 0.25, </a:t>
            </a:r>
            <a:r>
              <a:rPr lang="en-US" dirty="0" err="1"/>
              <a:t>logfc.threshold</a:t>
            </a:r>
            <a:r>
              <a:rPr lang="en-US" dirty="0"/>
              <a:t> = 0.25, </a:t>
            </a:r>
            <a:r>
              <a:rPr lang="en-US" dirty="0" err="1"/>
              <a:t>only.pos</a:t>
            </a:r>
            <a:r>
              <a:rPr lang="en-US" dirty="0"/>
              <a:t> = F)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F6EB6-27AC-DA37-9DD0-16BAF9A247D2}"/>
              </a:ext>
            </a:extLst>
          </p:cNvPr>
          <p:cNvSpPr txBox="1"/>
          <p:nvPr/>
        </p:nvSpPr>
        <p:spPr>
          <a:xfrm>
            <a:off x="6224221" y="1027384"/>
            <a:ext cx="533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GZMA: Tumor_CD8 T cell &gt; Normal_CD8 T cell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Cytotoxic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HLA-DRA, HLA-DRB1, HLA-DPB1: </a:t>
            </a:r>
            <a:r>
              <a:rPr lang="en-US" altLang="ko-KR" dirty="0"/>
              <a:t>Tumor_CD8 T cell &gt; Normal_CD8 T cell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activated</a:t>
            </a:r>
          </a:p>
          <a:p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23D0676-86D0-D92C-0B14-E2298FA8E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62" y="1027384"/>
            <a:ext cx="51720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36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A15D0B-1E0D-CFFE-2850-671C45D9D0F6}"/>
              </a:ext>
            </a:extLst>
          </p:cNvPr>
          <p:cNvSpPr txBox="1"/>
          <p:nvPr/>
        </p:nvSpPr>
        <p:spPr>
          <a:xfrm>
            <a:off x="304800" y="200025"/>
            <a:ext cx="8420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10) Signature analysis</a:t>
            </a:r>
          </a:p>
          <a:p>
            <a:endParaRPr lang="en-US" dirty="0"/>
          </a:p>
          <a:p>
            <a:r>
              <a:rPr lang="en-US" dirty="0"/>
              <a:t>Tumor infiltrating T cell </a:t>
            </a:r>
            <a:r>
              <a:rPr lang="en-US" dirty="0">
                <a:sym typeface="Wingdings" panose="05000000000000000000" pitchFamily="2" charset="2"/>
              </a:rPr>
              <a:t> might be exhausted</a:t>
            </a:r>
          </a:p>
          <a:p>
            <a:r>
              <a:rPr lang="en-US" dirty="0">
                <a:sym typeface="Wingdings" panose="05000000000000000000" pitchFamily="2" charset="2"/>
              </a:rPr>
              <a:t>Exhaustion signature: PDCD1, CTLA4, HAVCR2, LAG3, TOX</a:t>
            </a:r>
          </a:p>
          <a:p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64088D4-3356-77BA-F2E5-26B422730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31" y="1814553"/>
            <a:ext cx="4572000" cy="4572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6B36B5-68AE-F93E-1AA6-CC3C59235222}"/>
              </a:ext>
            </a:extLst>
          </p:cNvPr>
          <p:cNvSpPr txBox="1"/>
          <p:nvPr/>
        </p:nvSpPr>
        <p:spPr>
          <a:xfrm>
            <a:off x="1948167" y="2398104"/>
            <a:ext cx="190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 value: 2.595e-05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86552-7F8B-CFC5-F071-BFD457CC8280}"/>
              </a:ext>
            </a:extLst>
          </p:cNvPr>
          <p:cNvSpPr txBox="1"/>
          <p:nvPr/>
        </p:nvSpPr>
        <p:spPr>
          <a:xfrm>
            <a:off x="1701971" y="5748771"/>
            <a:ext cx="944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Normal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A119D1-023C-7003-3B95-6B2554EB0AB7}"/>
              </a:ext>
            </a:extLst>
          </p:cNvPr>
          <p:cNvSpPr txBox="1"/>
          <p:nvPr/>
        </p:nvSpPr>
        <p:spPr>
          <a:xfrm>
            <a:off x="3521501" y="5748771"/>
            <a:ext cx="79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Tumor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DCEF01-FCFC-81D5-1785-57742A41711C}"/>
              </a:ext>
            </a:extLst>
          </p:cNvPr>
          <p:cNvSpPr txBox="1"/>
          <p:nvPr/>
        </p:nvSpPr>
        <p:spPr>
          <a:xfrm>
            <a:off x="2288533" y="1944988"/>
            <a:ext cx="1360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CD8 T cells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234A9-FE0D-AA5D-DEA6-B2D8A9C9EE4D}"/>
              </a:ext>
            </a:extLst>
          </p:cNvPr>
          <p:cNvSpPr txBox="1"/>
          <p:nvPr/>
        </p:nvSpPr>
        <p:spPr>
          <a:xfrm>
            <a:off x="5302578" y="2398103"/>
            <a:ext cx="601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 T cells in the tumor-microenvironment are exhausted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442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630381-B44D-C4D7-4BC3-4479130A8697}"/>
              </a:ext>
            </a:extLst>
          </p:cNvPr>
          <p:cNvSpPr txBox="1"/>
          <p:nvPr/>
        </p:nvSpPr>
        <p:spPr>
          <a:xfrm>
            <a:off x="394741" y="603387"/>
            <a:ext cx="105727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Script</a:t>
            </a:r>
          </a:p>
          <a:p>
            <a:r>
              <a:rPr lang="en-US" dirty="0"/>
              <a:t>p&lt;-c("PDCD1", "CTLA4", "LAG3", "HAVCR2", "TOX")</a:t>
            </a:r>
          </a:p>
          <a:p>
            <a:r>
              <a:rPr lang="en-US" dirty="0"/>
              <a:t>total&lt;-</a:t>
            </a:r>
            <a:r>
              <a:rPr lang="en-US" dirty="0" err="1"/>
              <a:t>AddModuleScore</a:t>
            </a:r>
            <a:r>
              <a:rPr lang="en-US" dirty="0"/>
              <a:t>(total, features= p)</a:t>
            </a:r>
          </a:p>
          <a:p>
            <a:r>
              <a:rPr lang="en-US" dirty="0"/>
              <a:t>p1&lt;- (total$Cluster1 +total$Cluster2+total$Cluster3+total$Cluster4+total$Cluster5)/5</a:t>
            </a:r>
          </a:p>
          <a:p>
            <a:r>
              <a:rPr lang="en-US" dirty="0" err="1"/>
              <a:t>total$exh</a:t>
            </a:r>
            <a:r>
              <a:rPr lang="en-US" dirty="0"/>
              <a:t> &lt;- p1</a:t>
            </a:r>
          </a:p>
          <a:p>
            <a:r>
              <a:rPr lang="en-US" dirty="0"/>
              <a:t>z&lt;-subset(total, subset = </a:t>
            </a:r>
            <a:r>
              <a:rPr lang="en-US" dirty="0" err="1"/>
              <a:t>celltype</a:t>
            </a:r>
            <a:r>
              <a:rPr lang="en-US" dirty="0"/>
              <a:t> == "CD8_Tcell")</a:t>
            </a:r>
          </a:p>
          <a:p>
            <a:r>
              <a:rPr lang="en-US" dirty="0"/>
              <a:t>z1&lt;-</a:t>
            </a:r>
            <a:r>
              <a:rPr lang="en-US" dirty="0" err="1"/>
              <a:t>z$exh</a:t>
            </a:r>
            <a:r>
              <a:rPr lang="en-US" dirty="0"/>
              <a:t>[which(</a:t>
            </a:r>
            <a:r>
              <a:rPr lang="en-US" dirty="0" err="1"/>
              <a:t>z$group</a:t>
            </a:r>
            <a:r>
              <a:rPr lang="en-US" dirty="0"/>
              <a:t>=="normal")]</a:t>
            </a:r>
          </a:p>
          <a:p>
            <a:r>
              <a:rPr lang="en-US" dirty="0"/>
              <a:t>z2&lt;-</a:t>
            </a:r>
            <a:r>
              <a:rPr lang="en-US" dirty="0" err="1"/>
              <a:t>z$exh</a:t>
            </a:r>
            <a:r>
              <a:rPr lang="en-US" dirty="0"/>
              <a:t>[which(</a:t>
            </a:r>
            <a:r>
              <a:rPr lang="en-US" dirty="0" err="1"/>
              <a:t>z$group</a:t>
            </a:r>
            <a:r>
              <a:rPr lang="en-US" dirty="0"/>
              <a:t>=="tumor")]</a:t>
            </a:r>
          </a:p>
          <a:p>
            <a:r>
              <a:rPr lang="en-US" dirty="0" err="1"/>
              <a:t>wilcox.test</a:t>
            </a:r>
            <a:r>
              <a:rPr lang="en-US" dirty="0"/>
              <a:t>(z1,z2)</a:t>
            </a:r>
          </a:p>
          <a:p>
            <a:endParaRPr lang="en-US" dirty="0"/>
          </a:p>
          <a:p>
            <a:r>
              <a:rPr lang="en-US" dirty="0"/>
              <a:t>boxplot(z1,z2, </a:t>
            </a:r>
            <a:r>
              <a:rPr lang="en-US" dirty="0" err="1"/>
              <a:t>pch</a:t>
            </a:r>
            <a:r>
              <a:rPr lang="en-US" dirty="0"/>
              <a:t> = 20, names = c("normal", "tumor"))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8561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74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1643</Words>
  <Application>Microsoft Office PowerPoint</Application>
  <PresentationFormat>와이드스크린</PresentationFormat>
  <Paragraphs>201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Cho, Jae-Won</dc:creator>
  <cp:lastModifiedBy>Cho, Jae-Won</cp:lastModifiedBy>
  <cp:revision>47</cp:revision>
  <dcterms:created xsi:type="dcterms:W3CDTF">2023-02-08T19:05:17Z</dcterms:created>
  <dcterms:modified xsi:type="dcterms:W3CDTF">2023-02-09T20:14:38Z</dcterms:modified>
</cp:coreProperties>
</file>