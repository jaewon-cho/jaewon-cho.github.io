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6" r:id="rId2"/>
    <p:sldId id="268" r:id="rId3"/>
    <p:sldId id="330" r:id="rId4"/>
    <p:sldId id="331" r:id="rId5"/>
    <p:sldId id="332" r:id="rId6"/>
    <p:sldId id="333" r:id="rId7"/>
    <p:sldId id="334" r:id="rId8"/>
    <p:sldId id="335" r:id="rId9"/>
    <p:sldId id="337" r:id="rId10"/>
    <p:sldId id="338" r:id="rId11"/>
    <p:sldId id="336" r:id="rId12"/>
    <p:sldId id="339" r:id="rId13"/>
    <p:sldId id="329" r:id="rId14"/>
    <p:sldId id="340" r:id="rId15"/>
    <p:sldId id="321" r:id="rId16"/>
    <p:sldId id="322" r:id="rId17"/>
    <p:sldId id="323" r:id="rId18"/>
    <p:sldId id="341" r:id="rId19"/>
    <p:sldId id="289" r:id="rId20"/>
    <p:sldId id="288" r:id="rId21"/>
    <p:sldId id="324" r:id="rId22"/>
    <p:sldId id="290" r:id="rId23"/>
    <p:sldId id="342" r:id="rId24"/>
    <p:sldId id="292" r:id="rId25"/>
    <p:sldId id="326" r:id="rId26"/>
    <p:sldId id="327" r:id="rId27"/>
    <p:sldId id="325" r:id="rId28"/>
    <p:sldId id="328" r:id="rId29"/>
    <p:sldId id="343" r:id="rId30"/>
    <p:sldId id="293" r:id="rId31"/>
    <p:sldId id="294" r:id="rId32"/>
    <p:sldId id="296" r:id="rId33"/>
    <p:sldId id="297" r:id="rId34"/>
    <p:sldId id="298" r:id="rId35"/>
    <p:sldId id="307" r:id="rId36"/>
    <p:sldId id="344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41" autoAdjust="0"/>
    <p:restoredTop sz="94660"/>
  </p:normalViewPr>
  <p:slideViewPr>
    <p:cSldViewPr snapToGrid="0" showGuides="1">
      <p:cViewPr varScale="1">
        <p:scale>
          <a:sx n="67" d="100"/>
          <a:sy n="67" d="100"/>
        </p:scale>
        <p:origin x="84" y="1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57DC90-B0DC-49F1-9BDC-8DB8B0607FED}" type="datetimeFigureOut">
              <a:rPr lang="ko-KR" altLang="en-US" smtClean="0"/>
              <a:t>2025-08-01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29D69F-4467-439B-A8D1-73D875FDE2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6845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Learning rate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9D69F-4467-439B-A8D1-73D875FDE219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5750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Learning rate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9D69F-4467-439B-A8D1-73D875FDE219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67725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Learning rate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9D69F-4467-439B-A8D1-73D875FDE219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83800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삼각형 합이 계속 일정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9D69F-4467-439B-A8D1-73D875FDE219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14242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RF: bootstrapping </a:t>
            </a:r>
            <a:r>
              <a:rPr lang="en-US" altLang="ko-KR" dirty="0">
                <a:sym typeface="Wingdings" panose="05000000000000000000" pitchFamily="2" charset="2"/>
              </a:rPr>
              <a:t> bagging</a:t>
            </a:r>
          </a:p>
          <a:p>
            <a:r>
              <a:rPr lang="en-US" altLang="ko-KR" dirty="0">
                <a:sym typeface="Wingdings" panose="05000000000000000000" pitchFamily="2" charset="2"/>
              </a:rPr>
              <a:t>Importance: each node (gene)</a:t>
            </a:r>
            <a:r>
              <a:rPr lang="ko-KR" altLang="en-US" dirty="0">
                <a:sym typeface="Wingdings" panose="05000000000000000000" pitchFamily="2" charset="2"/>
              </a:rPr>
              <a:t>이 </a:t>
            </a:r>
            <a:r>
              <a:rPr lang="en-US" altLang="ko-KR" dirty="0">
                <a:sym typeface="Wingdings" panose="05000000000000000000" pitchFamily="2" charset="2"/>
              </a:rPr>
              <a:t>classification </a:t>
            </a:r>
            <a:r>
              <a:rPr lang="ko-KR" altLang="en-US" dirty="0">
                <a:sym typeface="Wingdings" panose="05000000000000000000" pitchFamily="2" charset="2"/>
              </a:rPr>
              <a:t>얼마나 잘하는지 </a:t>
            </a:r>
            <a:r>
              <a:rPr lang="en-US" altLang="ko-KR" dirty="0">
                <a:sym typeface="Wingdings" panose="05000000000000000000" pitchFamily="2" charset="2"/>
              </a:rPr>
              <a:t>(information gain </a:t>
            </a:r>
            <a:r>
              <a:rPr lang="ko-KR" altLang="en-US" dirty="0">
                <a:sym typeface="Wingdings" panose="05000000000000000000" pitchFamily="2" charset="2"/>
              </a:rPr>
              <a:t>측정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29D69F-4467-439B-A8D1-73D875FDE219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24385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0EC00-209D-EFAD-7C86-81D7A0292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7C5116A-6FA2-D77A-3D53-2A8673C575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552E2C5-0CA2-FF30-CFF3-22551D84F8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RF: bootstrapping </a:t>
            </a:r>
            <a:r>
              <a:rPr lang="en-US" altLang="ko-KR" dirty="0">
                <a:sym typeface="Wingdings" panose="05000000000000000000" pitchFamily="2" charset="2"/>
              </a:rPr>
              <a:t> bagging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DC8D62-2C58-658C-D764-82FEBAD379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29D69F-4467-439B-A8D1-73D875FDE219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3281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29D69F-4467-439B-A8D1-73D875FDE219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83635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05736-8B67-4E31-BD4F-32524DE3DB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EA22BA-AE7A-47B6-B714-12FE910EA9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9A417-FE83-42AA-A2DD-6249FA404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FD41E-3E92-4902-947C-050B627FD945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15C66C-8B53-40D8-A429-675228121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BEC72-B2E3-42C3-A28D-0BD834DA1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82F0D-A76D-4FF6-AAA8-4316D8C6D6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411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4F308-C277-4625-A038-7D68B25C0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42960-D3F2-4DA0-AB66-E041CFAEB9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55849B-D577-4635-9D2A-FE192C659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FD41E-3E92-4902-947C-050B627FD945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6CD337-D52D-4A4F-9D55-47F43AA35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05E6F8-8085-4CF5-8775-87C229719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82F0D-A76D-4FF6-AAA8-4316D8C6D6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978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14109-B2AF-463F-8C8A-1A633D207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3C903E-074B-401D-80C5-245D8FD9FA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B4114E-760A-4C2F-BC08-1BCDDCD1A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FD41E-3E92-4902-947C-050B627FD945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E8C1DA-A23B-4793-9B5B-E28CCFA18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8351EE-9F7B-470C-B0C3-A41340E5C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82F0D-A76D-4FF6-AAA8-4316D8C6D6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928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BA005-6060-4440-BF25-2AA20DB47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9107A-BF71-47D4-890D-F46B4635B5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CD4396-CB6E-4810-9125-440B445549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5C0C82-89E6-44E7-BE80-3268B1D46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FD41E-3E92-4902-947C-050B627FD945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57FAF2-4CA8-4E14-8978-419D09084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8372F1-E66D-45F2-B398-A9E90B14C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82F0D-A76D-4FF6-AAA8-4316D8C6D6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066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FA468-B185-4A5C-A8FC-2D747620D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8245E0-55C8-4D8C-8611-31CC8B1BB3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5A5F80-9C57-45C5-A9E4-E4E5F51BDE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4AC5BD-137E-41E9-A244-CB9559A1B3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8BEF3E-FC3B-4518-9B48-AD4100B76A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BF2AEB-EB3D-4C0A-B259-C25EB86CB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FD41E-3E92-4902-947C-050B627FD945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62AFA4-B0C3-4B2E-8E83-6C88CA97E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BE7FCB-A9DC-43D3-9871-E1B021809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82F0D-A76D-4FF6-AAA8-4316D8C6D6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477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5C15A-4C07-44D1-B1F4-39D199373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D5164B-D30C-4148-9FC7-9CE20E6B6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FD41E-3E92-4902-947C-050B627FD945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0895F9-BA49-4950-B2A7-7D26A25F2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2F54C2-D1CE-4829-99B6-46386260A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82F0D-A76D-4FF6-AAA8-4316D8C6D6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132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E3ABE2-C324-429B-903E-BE9AFDACA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FD41E-3E92-4902-947C-050B627FD945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358CA4-0325-453C-B806-0BF6861D5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8815A4-8B05-4A59-9237-C91B69AAC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82F0D-A76D-4FF6-AAA8-4316D8C6D6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979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50280-83C1-41BF-9792-F87A6FFDD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69FD3-E954-4686-83DE-7A2379E715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A69F25-B273-4097-BD40-8C6D081E62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F2D106-EE61-4DC9-85C3-A470C8856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FD41E-3E92-4902-947C-050B627FD945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350D5F-B05F-45BD-8C57-BC6251FB0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C4CB3B-F255-4970-9204-7857F3EF1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82F0D-A76D-4FF6-AAA8-4316D8C6D6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752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BE422-3B19-4C3C-85CF-5B02F7FAA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7F99D8-DBF9-4AFB-8C78-7572A2C900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50F294-8268-4B8C-B263-B1A07DCF83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21E902-9C78-4B1E-84AE-F14F75DC1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FD41E-3E92-4902-947C-050B627FD945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D26A14-597A-422C-ABBB-4456A5AF5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D2A4C6-BA44-407F-A34C-0DFF82AAB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82F0D-A76D-4FF6-AAA8-4316D8C6D6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452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C3A6A-B1FE-45E1-83F5-49CCF2A6F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3E0A96-4737-4544-A0DE-F7B51216D4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671839-1A2C-4442-93EC-D4067D455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FD41E-3E92-4902-947C-050B627FD945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0C0DC-77C4-484B-9272-8C1EC6FFE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D583D2-A1B7-4981-941B-703F9E566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82F0D-A76D-4FF6-AAA8-4316D8C6D6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853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41D7C1-7425-4C4E-95DC-94C9F765AC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3728F9-170A-4955-B331-A4A070281B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1596AE-7549-4DF1-B291-20B2DC603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FD41E-3E92-4902-947C-050B627FD945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046C23-2F8B-488B-9AEA-4183FCB86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89107C-8824-4582-B0FF-1B8C9C69F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82F0D-A76D-4FF6-AAA8-4316D8C6D6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79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C87C3F-AAF8-4EDF-87C4-7DC787E38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8E305D-8BAC-4216-8CC6-E4BF195FC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521719-B420-4B66-8058-C3C0ADF280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CFD41E-3E92-4902-947C-050B627FD945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175826-F00F-49D0-8AB5-F1704D147B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F8C4FE-FAFF-4DA6-9373-710CD383C2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C82F0D-A76D-4FF6-AAA8-4316D8C6D6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664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2E4932-0768-CB03-2829-92705620D3B1}"/>
              </a:ext>
            </a:extLst>
          </p:cNvPr>
          <p:cNvSpPr txBox="1"/>
          <p:nvPr/>
        </p:nvSpPr>
        <p:spPr>
          <a:xfrm>
            <a:off x="9525" y="1786597"/>
            <a:ext cx="121729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0" dirty="0">
                <a:latin typeface="Arial" panose="020B0604020202020204" pitchFamily="34" charset="0"/>
                <a:cs typeface="Arial" panose="020B0604020202020204" pitchFamily="34" charset="0"/>
              </a:rPr>
              <a:t>Single-cell RNA-sequencing</a:t>
            </a:r>
          </a:p>
        </p:txBody>
      </p:sp>
    </p:spTree>
    <p:extLst>
      <p:ext uri="{BB962C8B-B14F-4D97-AF65-F5344CB8AC3E}">
        <p14:creationId xmlns:p14="http://schemas.microsoft.com/office/powerpoint/2010/main" val="3850626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45F6EB6-27AC-DA37-9DD0-16BAF9A247D2}"/>
              </a:ext>
            </a:extLst>
          </p:cNvPr>
          <p:cNvSpPr txBox="1"/>
          <p:nvPr/>
        </p:nvSpPr>
        <p:spPr>
          <a:xfrm>
            <a:off x="6224221" y="2017984"/>
            <a:ext cx="53340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GZMA: Tumor_CD8 T cell &gt; Normal_CD8 T cell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Cytotoxic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HLA-DRA, HLA-DRB1, HLA-DPB1: </a:t>
            </a:r>
            <a:r>
              <a:rPr lang="en-US" altLang="ko-KR" dirty="0"/>
              <a:t>Tumor_CD8 T cell &gt; Normal_CD8 T cell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altLang="ko-KR" dirty="0">
                <a:sym typeface="Wingdings" panose="05000000000000000000" pitchFamily="2" charset="2"/>
              </a:rPr>
              <a:t>activated</a:t>
            </a:r>
          </a:p>
          <a:p>
            <a:endParaRPr 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23D0676-86D0-D92C-0B14-E2298FA8EE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162" y="2017984"/>
            <a:ext cx="5172075" cy="24574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35705FD-047B-CF59-7832-44778909ACD6}"/>
              </a:ext>
            </a:extLst>
          </p:cNvPr>
          <p:cNvSpPr txBox="1"/>
          <p:nvPr/>
        </p:nvSpPr>
        <p:spPr>
          <a:xfrm>
            <a:off x="0" y="0"/>
            <a:ext cx="12172950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800" dirty="0">
                <a:latin typeface="Arial" panose="020B0604020202020204" pitchFamily="34" charset="0"/>
                <a:cs typeface="Arial" panose="020B0604020202020204" pitchFamily="34" charset="0"/>
              </a:rPr>
              <a:t>Differentially expressed gene analysis between two groups</a:t>
            </a:r>
          </a:p>
          <a:p>
            <a:r>
              <a:rPr lang="en-US" altLang="ko-KR" sz="28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 Wilcoxon rank sum test between two groups for each cell type (or cluster)</a:t>
            </a:r>
          </a:p>
          <a:p>
            <a:pPr marL="342900" indent="-342900">
              <a:buFont typeface="Wingdings" panose="05000000000000000000" pitchFamily="2" charset="2"/>
              <a:buChar char="à"/>
            </a:pP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Nonparametric approach (does not require a specific distribution of data)</a:t>
            </a:r>
          </a:p>
          <a:p>
            <a:pPr marL="342900" indent="-342900">
              <a:buFont typeface="Wingdings" panose="05000000000000000000" pitchFamily="2" charset="2"/>
              <a:buChar char="à"/>
            </a:pP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Adjusted p-value, average_Log2FC + expression cell ratio (pct.1, pct.2) </a:t>
            </a:r>
            <a:endParaRPr lang="en-US" altLang="ko-K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ko-KR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1836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132FD9-A24A-4223-0690-1A95BA11EF2E}"/>
              </a:ext>
            </a:extLst>
          </p:cNvPr>
          <p:cNvSpPr txBox="1"/>
          <p:nvPr/>
        </p:nvSpPr>
        <p:spPr>
          <a:xfrm>
            <a:off x="0" y="0"/>
            <a:ext cx="121729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800" dirty="0" err="1">
                <a:latin typeface="Arial" panose="020B0604020202020204" pitchFamily="34" charset="0"/>
                <a:cs typeface="Arial" panose="020B0604020202020204" pitchFamily="34" charset="0"/>
              </a:rPr>
              <a:t>Geneset</a:t>
            </a:r>
            <a:r>
              <a:rPr lang="en-US" altLang="ko-KR" sz="2800" dirty="0">
                <a:latin typeface="Arial" panose="020B0604020202020204" pitchFamily="34" charset="0"/>
                <a:cs typeface="Arial" panose="020B0604020202020204" pitchFamily="34" charset="0"/>
              </a:rPr>
              <a:t> analysis</a:t>
            </a:r>
          </a:p>
          <a:p>
            <a:endParaRPr lang="en-US" altLang="ko-KR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56988C8-CBC4-658C-77A3-0437E8D198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207" y="1627257"/>
            <a:ext cx="1996167" cy="4433046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B25A9EF5-3FE0-83AD-8AA9-E7164F7433B5}"/>
              </a:ext>
            </a:extLst>
          </p:cNvPr>
          <p:cNvCxnSpPr>
            <a:cxnSpLocks/>
            <a:endCxn id="11" idx="2"/>
          </p:cNvCxnSpPr>
          <p:nvPr/>
        </p:nvCxnSpPr>
        <p:spPr>
          <a:xfrm>
            <a:off x="1437291" y="1300899"/>
            <a:ext cx="0" cy="4759404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20EB797-FDEE-3A78-136A-D132B33CAE08}"/>
              </a:ext>
            </a:extLst>
          </p:cNvPr>
          <p:cNvSpPr txBox="1"/>
          <p:nvPr/>
        </p:nvSpPr>
        <p:spPr>
          <a:xfrm>
            <a:off x="400216" y="1213362"/>
            <a:ext cx="1051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CTRL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B7E414-2037-651A-3F45-38FB5CD2B5F2}"/>
              </a:ext>
            </a:extLst>
          </p:cNvPr>
          <p:cNvSpPr txBox="1"/>
          <p:nvPr/>
        </p:nvSpPr>
        <p:spPr>
          <a:xfrm>
            <a:off x="1379234" y="1215793"/>
            <a:ext cx="1051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Treat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0EB797-FDEE-3A78-136A-D132B33CAE08}"/>
              </a:ext>
            </a:extLst>
          </p:cNvPr>
          <p:cNvSpPr txBox="1"/>
          <p:nvPr/>
        </p:nvSpPr>
        <p:spPr>
          <a:xfrm>
            <a:off x="697199" y="797623"/>
            <a:ext cx="14801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Celltype1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0EB797-FDEE-3A78-136A-D132B33CAE08}"/>
              </a:ext>
            </a:extLst>
          </p:cNvPr>
          <p:cNvSpPr txBox="1"/>
          <p:nvPr/>
        </p:nvSpPr>
        <p:spPr>
          <a:xfrm>
            <a:off x="2621838" y="797623"/>
            <a:ext cx="18558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Celltype2 …</a:t>
            </a:r>
          </a:p>
        </p:txBody>
      </p:sp>
      <p:sp>
        <p:nvSpPr>
          <p:cNvPr id="20" name="오른쪽 대괄호 19">
            <a:extLst>
              <a:ext uri="{FF2B5EF4-FFF2-40B4-BE49-F238E27FC236}">
                <a16:creationId xmlns:a16="http://schemas.microsoft.com/office/drawing/2014/main" id="{8CDD71EA-E68D-525D-8E3F-5508B22320E8}"/>
              </a:ext>
            </a:extLst>
          </p:cNvPr>
          <p:cNvSpPr/>
          <p:nvPr/>
        </p:nvSpPr>
        <p:spPr>
          <a:xfrm>
            <a:off x="2494617" y="1704595"/>
            <a:ext cx="130628" cy="1622879"/>
          </a:xfrm>
          <a:prstGeom prst="rightBracke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C757C0C-DA7B-3B12-016D-3BC678F6269E}"/>
              </a:ext>
            </a:extLst>
          </p:cNvPr>
          <p:cNvSpPr txBox="1"/>
          <p:nvPr/>
        </p:nvSpPr>
        <p:spPr>
          <a:xfrm>
            <a:off x="2869611" y="2321490"/>
            <a:ext cx="7402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Fisher’s exact test  or GSEA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C757C0C-DA7B-3B12-016D-3BC678F6269E}"/>
              </a:ext>
            </a:extLst>
          </p:cNvPr>
          <p:cNvSpPr txBox="1"/>
          <p:nvPr/>
        </p:nvSpPr>
        <p:spPr>
          <a:xfrm>
            <a:off x="2869611" y="4088983"/>
            <a:ext cx="7402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à"/>
            </a:pP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Or measuring “signature score” for each cell</a:t>
            </a:r>
          </a:p>
          <a:p>
            <a:pPr marL="342900" indent="-342900">
              <a:buFont typeface="Wingdings" panose="05000000000000000000" pitchFamily="2" charset="2"/>
              <a:buChar char="à"/>
            </a:pP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Kind of supervised dimension reduction (?)</a:t>
            </a:r>
          </a:p>
        </p:txBody>
      </p:sp>
    </p:spTree>
    <p:extLst>
      <p:ext uri="{BB962C8B-B14F-4D97-AF65-F5344CB8AC3E}">
        <p14:creationId xmlns:p14="http://schemas.microsoft.com/office/powerpoint/2010/main" val="2382138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6CD898-AB1C-3907-5894-E90DA7F7FECB}"/>
              </a:ext>
            </a:extLst>
          </p:cNvPr>
          <p:cNvSpPr txBox="1"/>
          <p:nvPr/>
        </p:nvSpPr>
        <p:spPr>
          <a:xfrm>
            <a:off x="0" y="0"/>
            <a:ext cx="12172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800" dirty="0" err="1">
                <a:latin typeface="Arial" panose="020B0604020202020204" pitchFamily="34" charset="0"/>
                <a:cs typeface="Arial" panose="020B0604020202020204" pitchFamily="34" charset="0"/>
              </a:rPr>
              <a:t>AddModuleScore</a:t>
            </a:r>
            <a:endParaRPr lang="en-US" altLang="ko-KR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02" y="1034248"/>
            <a:ext cx="5915025" cy="4638675"/>
          </a:xfrm>
          <a:prstGeom prst="rect">
            <a:avLst/>
          </a:prstGeom>
        </p:spPr>
      </p:pic>
      <p:cxnSp>
        <p:nvCxnSpPr>
          <p:cNvPr id="5" name="직선 연결선 4"/>
          <p:cNvCxnSpPr/>
          <p:nvPr/>
        </p:nvCxnSpPr>
        <p:spPr>
          <a:xfrm flipV="1">
            <a:off x="4637988" y="961534"/>
            <a:ext cx="2243579" cy="104637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/>
          <p:cNvCxnSpPr/>
          <p:nvPr/>
        </p:nvCxnSpPr>
        <p:spPr>
          <a:xfrm>
            <a:off x="4637988" y="2007909"/>
            <a:ext cx="2243579" cy="162141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C757C0C-DA7B-3B12-016D-3BC678F6269E}"/>
              </a:ext>
            </a:extLst>
          </p:cNvPr>
          <p:cNvSpPr txBox="1"/>
          <p:nvPr/>
        </p:nvSpPr>
        <p:spPr>
          <a:xfrm>
            <a:off x="3699170" y="1352285"/>
            <a:ext cx="15044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Single-cell1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E56988C8-CBC4-658C-77A3-0437E8D198C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6614"/>
          <a:stretch/>
        </p:blipFill>
        <p:spPr>
          <a:xfrm>
            <a:off x="7013542" y="821356"/>
            <a:ext cx="183460" cy="3043634"/>
          </a:xfrm>
          <a:prstGeom prst="rect">
            <a:avLst/>
          </a:prstGeom>
        </p:spPr>
      </p:pic>
      <p:cxnSp>
        <p:nvCxnSpPr>
          <p:cNvPr id="14" name="직선 연결선 13"/>
          <p:cNvCxnSpPr/>
          <p:nvPr/>
        </p:nvCxnSpPr>
        <p:spPr>
          <a:xfrm>
            <a:off x="7197002" y="825609"/>
            <a:ext cx="947757" cy="100319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 flipV="1">
            <a:off x="7197002" y="2818614"/>
            <a:ext cx="947757" cy="104637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C757C0C-DA7B-3B12-016D-3BC678F6269E}"/>
              </a:ext>
            </a:extLst>
          </p:cNvPr>
          <p:cNvSpPr txBox="1"/>
          <p:nvPr/>
        </p:nvSpPr>
        <p:spPr>
          <a:xfrm>
            <a:off x="8144759" y="1807854"/>
            <a:ext cx="150442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Signature1</a:t>
            </a:r>
          </a:p>
          <a:p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Signature2</a:t>
            </a:r>
          </a:p>
          <a:p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…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C757C0C-DA7B-3B12-016D-3BC678F6269E}"/>
              </a:ext>
            </a:extLst>
          </p:cNvPr>
          <p:cNvSpPr txBox="1"/>
          <p:nvPr/>
        </p:nvSpPr>
        <p:spPr>
          <a:xfrm>
            <a:off x="5759777" y="4376017"/>
            <a:ext cx="617455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-Mean expression of a given </a:t>
            </a:r>
            <a:r>
              <a:rPr lang="en-US" altLang="ko-KR" sz="20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geneset</a:t>
            </a:r>
            <a:endParaRPr lang="en-US" altLang="ko-KR" sz="20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-Each gene will be binned</a:t>
            </a:r>
          </a:p>
          <a:p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-Subtracted by random (selected by each bin) noise</a:t>
            </a: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E56988C8-CBC4-658C-77A3-0437E8D198C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6614"/>
          <a:stretch/>
        </p:blipFill>
        <p:spPr>
          <a:xfrm rot="16200000">
            <a:off x="7283425" y="4338889"/>
            <a:ext cx="183460" cy="3043634"/>
          </a:xfrm>
          <a:prstGeom prst="rect">
            <a:avLst/>
          </a:prstGeom>
        </p:spPr>
      </p:pic>
      <p:sp>
        <p:nvSpPr>
          <p:cNvPr id="26" name="오른쪽 대괄호 25">
            <a:extLst>
              <a:ext uri="{FF2B5EF4-FFF2-40B4-BE49-F238E27FC236}">
                <a16:creationId xmlns:a16="http://schemas.microsoft.com/office/drawing/2014/main" id="{8CDD71EA-E68D-525D-8E3F-5508B22320E8}"/>
              </a:ext>
            </a:extLst>
          </p:cNvPr>
          <p:cNvSpPr/>
          <p:nvPr/>
        </p:nvSpPr>
        <p:spPr>
          <a:xfrm rot="5400000">
            <a:off x="6086758" y="5764009"/>
            <a:ext cx="130628" cy="597468"/>
          </a:xfrm>
          <a:prstGeom prst="rightBracke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오른쪽 대괄호 26">
            <a:extLst>
              <a:ext uri="{FF2B5EF4-FFF2-40B4-BE49-F238E27FC236}">
                <a16:creationId xmlns:a16="http://schemas.microsoft.com/office/drawing/2014/main" id="{8CDD71EA-E68D-525D-8E3F-5508B22320E8}"/>
              </a:ext>
            </a:extLst>
          </p:cNvPr>
          <p:cNvSpPr/>
          <p:nvPr/>
        </p:nvSpPr>
        <p:spPr>
          <a:xfrm rot="5400000">
            <a:off x="6741224" y="5764009"/>
            <a:ext cx="130628" cy="597468"/>
          </a:xfrm>
          <a:prstGeom prst="rightBracke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오른쪽 대괄호 27">
            <a:extLst>
              <a:ext uri="{FF2B5EF4-FFF2-40B4-BE49-F238E27FC236}">
                <a16:creationId xmlns:a16="http://schemas.microsoft.com/office/drawing/2014/main" id="{8CDD71EA-E68D-525D-8E3F-5508B22320E8}"/>
              </a:ext>
            </a:extLst>
          </p:cNvPr>
          <p:cNvSpPr/>
          <p:nvPr/>
        </p:nvSpPr>
        <p:spPr>
          <a:xfrm rot="5400000">
            <a:off x="7401662" y="5764009"/>
            <a:ext cx="130628" cy="597468"/>
          </a:xfrm>
          <a:prstGeom prst="rightBracke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오른쪽 대괄호 28">
            <a:extLst>
              <a:ext uri="{FF2B5EF4-FFF2-40B4-BE49-F238E27FC236}">
                <a16:creationId xmlns:a16="http://schemas.microsoft.com/office/drawing/2014/main" id="{8CDD71EA-E68D-525D-8E3F-5508B22320E8}"/>
              </a:ext>
            </a:extLst>
          </p:cNvPr>
          <p:cNvSpPr/>
          <p:nvPr/>
        </p:nvSpPr>
        <p:spPr>
          <a:xfrm rot="5400000">
            <a:off x="8056128" y="5764009"/>
            <a:ext cx="130628" cy="597468"/>
          </a:xfrm>
          <a:prstGeom prst="rightBracke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오른쪽 대괄호 29">
            <a:extLst>
              <a:ext uri="{FF2B5EF4-FFF2-40B4-BE49-F238E27FC236}">
                <a16:creationId xmlns:a16="http://schemas.microsoft.com/office/drawing/2014/main" id="{8CDD71EA-E68D-525D-8E3F-5508B22320E8}"/>
              </a:ext>
            </a:extLst>
          </p:cNvPr>
          <p:cNvSpPr/>
          <p:nvPr/>
        </p:nvSpPr>
        <p:spPr>
          <a:xfrm rot="5400000">
            <a:off x="8710594" y="5764009"/>
            <a:ext cx="130628" cy="597468"/>
          </a:xfrm>
          <a:prstGeom prst="rightBracke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8365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FB2ED-EA6A-28D4-23A4-184856C22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E6AA8D-E90F-E9C2-9FFD-31B40A461956}"/>
              </a:ext>
            </a:extLst>
          </p:cNvPr>
          <p:cNvSpPr txBox="1"/>
          <p:nvPr/>
        </p:nvSpPr>
        <p:spPr>
          <a:xfrm>
            <a:off x="0" y="0"/>
            <a:ext cx="12172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800" dirty="0" err="1">
                <a:latin typeface="Arial" panose="020B0604020202020204" pitchFamily="34" charset="0"/>
                <a:cs typeface="Arial" panose="020B0604020202020204" pitchFamily="34" charset="0"/>
              </a:rPr>
              <a:t>AUCell</a:t>
            </a:r>
            <a:endParaRPr lang="en-US" altLang="ko-KR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757C0C-DA7B-3B12-016D-3BC678F6269E}"/>
              </a:ext>
            </a:extLst>
          </p:cNvPr>
          <p:cNvSpPr txBox="1"/>
          <p:nvPr/>
        </p:nvSpPr>
        <p:spPr>
          <a:xfrm>
            <a:off x="28673" y="523220"/>
            <a:ext cx="617455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-Order genes by expression for each cell</a:t>
            </a:r>
          </a:p>
          <a:p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-Measure AUC for a given </a:t>
            </a:r>
            <a:r>
              <a:rPr lang="en-US" altLang="ko-KR" sz="20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geneset</a:t>
            </a:r>
            <a:endParaRPr lang="en-US" altLang="ko-KR" sz="20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56988C8-CBC4-658C-77A3-0437E8D198C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6614"/>
          <a:stretch/>
        </p:blipFill>
        <p:spPr>
          <a:xfrm rot="16200000">
            <a:off x="6936093" y="2867876"/>
            <a:ext cx="183460" cy="3043634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194" y="1476374"/>
            <a:ext cx="3308985" cy="3308985"/>
          </a:xfrm>
          <a:prstGeom prst="rect">
            <a:avLst/>
          </a:prstGeom>
        </p:spPr>
      </p:pic>
      <p:cxnSp>
        <p:nvCxnSpPr>
          <p:cNvPr id="8" name="직선 연결선 7"/>
          <p:cNvCxnSpPr/>
          <p:nvPr/>
        </p:nvCxnSpPr>
        <p:spPr>
          <a:xfrm>
            <a:off x="5486400" y="4099560"/>
            <a:ext cx="282804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/>
          <p:cNvSpPr/>
          <p:nvPr/>
        </p:nvSpPr>
        <p:spPr>
          <a:xfrm>
            <a:off x="5443538" y="4297962"/>
            <a:ext cx="1002982" cy="183461"/>
          </a:xfrm>
          <a:prstGeom prst="rect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6691313" y="4297962"/>
            <a:ext cx="352425" cy="183461"/>
          </a:xfrm>
          <a:prstGeom prst="rect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7739064" y="4297961"/>
            <a:ext cx="219074" cy="183461"/>
          </a:xfrm>
          <a:prstGeom prst="rect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757C0C-DA7B-3B12-016D-3BC678F6269E}"/>
              </a:ext>
            </a:extLst>
          </p:cNvPr>
          <p:cNvSpPr txBox="1"/>
          <p:nvPr/>
        </p:nvSpPr>
        <p:spPr>
          <a:xfrm>
            <a:off x="5370522" y="5023484"/>
            <a:ext cx="33146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Given genes (6,2,1: 9)</a:t>
            </a:r>
          </a:p>
        </p:txBody>
      </p:sp>
      <p:cxnSp>
        <p:nvCxnSpPr>
          <p:cNvPr id="15" name="직선 화살표 연결선 14"/>
          <p:cNvCxnSpPr>
            <a:stCxn id="10" idx="2"/>
          </p:cNvCxnSpPr>
          <p:nvPr/>
        </p:nvCxnSpPr>
        <p:spPr>
          <a:xfrm>
            <a:off x="5945029" y="4481423"/>
            <a:ext cx="0" cy="542060"/>
          </a:xfrm>
          <a:prstGeom prst="straightConnector1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/>
          <p:nvPr/>
        </p:nvCxnSpPr>
        <p:spPr>
          <a:xfrm flipH="1">
            <a:off x="6203230" y="4469991"/>
            <a:ext cx="664296" cy="553493"/>
          </a:xfrm>
          <a:prstGeom prst="straightConnector1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/>
          <p:cNvCxnSpPr/>
          <p:nvPr/>
        </p:nvCxnSpPr>
        <p:spPr>
          <a:xfrm flipH="1">
            <a:off x="6319837" y="4510948"/>
            <a:ext cx="1528765" cy="512535"/>
          </a:xfrm>
          <a:prstGeom prst="straightConnector1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 flipV="1">
            <a:off x="5486400" y="1649691"/>
            <a:ext cx="0" cy="24498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/>
          <p:cNvCxnSpPr/>
          <p:nvPr/>
        </p:nvCxnSpPr>
        <p:spPr>
          <a:xfrm flipV="1">
            <a:off x="5553956" y="2499120"/>
            <a:ext cx="0" cy="1600442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6C757C0C-DA7B-3B12-016D-3BC678F6269E}"/>
              </a:ext>
            </a:extLst>
          </p:cNvPr>
          <p:cNvSpPr txBox="1"/>
          <p:nvPr/>
        </p:nvSpPr>
        <p:spPr>
          <a:xfrm>
            <a:off x="4371238" y="2299065"/>
            <a:ext cx="11151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0.67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C757C0C-DA7B-3B12-016D-3BC678F6269E}"/>
              </a:ext>
            </a:extLst>
          </p:cNvPr>
          <p:cNvSpPr txBox="1"/>
          <p:nvPr/>
        </p:nvSpPr>
        <p:spPr>
          <a:xfrm>
            <a:off x="4371238" y="1775970"/>
            <a:ext cx="11151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0.89</a:t>
            </a:r>
          </a:p>
        </p:txBody>
      </p:sp>
      <p:cxnSp>
        <p:nvCxnSpPr>
          <p:cNvPr id="38" name="직선 연결선 37"/>
          <p:cNvCxnSpPr/>
          <p:nvPr/>
        </p:nvCxnSpPr>
        <p:spPr>
          <a:xfrm>
            <a:off x="5553954" y="2512633"/>
            <a:ext cx="460345" cy="6753"/>
          </a:xfrm>
          <a:prstGeom prst="line">
            <a:avLst/>
          </a:prstGeom>
          <a:ln w="28575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/>
          <p:cNvCxnSpPr/>
          <p:nvPr/>
        </p:nvCxnSpPr>
        <p:spPr>
          <a:xfrm flipV="1">
            <a:off x="6014299" y="1976025"/>
            <a:ext cx="0" cy="571885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/>
          <p:cNvCxnSpPr/>
          <p:nvPr/>
        </p:nvCxnSpPr>
        <p:spPr>
          <a:xfrm>
            <a:off x="6001730" y="1996801"/>
            <a:ext cx="1244890" cy="0"/>
          </a:xfrm>
          <a:prstGeom prst="line">
            <a:avLst/>
          </a:prstGeom>
          <a:ln w="28575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/>
          <p:cNvCxnSpPr/>
          <p:nvPr/>
        </p:nvCxnSpPr>
        <p:spPr>
          <a:xfrm flipV="1">
            <a:off x="7246620" y="1611984"/>
            <a:ext cx="0" cy="364043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/>
          <p:cNvCxnSpPr/>
          <p:nvPr/>
        </p:nvCxnSpPr>
        <p:spPr>
          <a:xfrm>
            <a:off x="7235583" y="1630837"/>
            <a:ext cx="890322" cy="0"/>
          </a:xfrm>
          <a:prstGeom prst="line">
            <a:avLst/>
          </a:prstGeom>
          <a:ln w="28575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6C757C0C-DA7B-3B12-016D-3BC678F6269E}"/>
              </a:ext>
            </a:extLst>
          </p:cNvPr>
          <p:cNvSpPr txBox="1"/>
          <p:nvPr/>
        </p:nvSpPr>
        <p:spPr>
          <a:xfrm>
            <a:off x="4365719" y="3868327"/>
            <a:ext cx="11151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0</a:t>
            </a:r>
          </a:p>
        </p:txBody>
      </p:sp>
      <p:cxnSp>
        <p:nvCxnSpPr>
          <p:cNvPr id="51" name="직선 연결선 50"/>
          <p:cNvCxnSpPr/>
          <p:nvPr/>
        </p:nvCxnSpPr>
        <p:spPr>
          <a:xfrm flipV="1">
            <a:off x="5566526" y="1649691"/>
            <a:ext cx="2559379" cy="2418691"/>
          </a:xfrm>
          <a:prstGeom prst="line">
            <a:avLst/>
          </a:prstGeom>
          <a:ln w="28575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6C757C0C-DA7B-3B12-016D-3BC678F6269E}"/>
              </a:ext>
            </a:extLst>
          </p:cNvPr>
          <p:cNvSpPr txBox="1"/>
          <p:nvPr/>
        </p:nvSpPr>
        <p:spPr>
          <a:xfrm>
            <a:off x="129741" y="4891508"/>
            <a:ext cx="413317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-Receiver operating characteristic </a:t>
            </a:r>
          </a:p>
          <a:p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(ROC) curve: performance measurement</a:t>
            </a:r>
          </a:p>
          <a:p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-AUC: area under curve</a:t>
            </a:r>
          </a:p>
          <a:p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Quantification</a:t>
            </a:r>
          </a:p>
        </p:txBody>
      </p:sp>
    </p:spTree>
    <p:extLst>
      <p:ext uri="{BB962C8B-B14F-4D97-AF65-F5344CB8AC3E}">
        <p14:creationId xmlns:p14="http://schemas.microsoft.com/office/powerpoint/2010/main" val="314959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26FFE-C9E9-80B3-42AE-A057B4323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4591F9-BFCE-64DD-71E2-C282C82E3692}"/>
              </a:ext>
            </a:extLst>
          </p:cNvPr>
          <p:cNvSpPr txBox="1"/>
          <p:nvPr/>
        </p:nvSpPr>
        <p:spPr>
          <a:xfrm>
            <a:off x="0" y="0"/>
            <a:ext cx="12172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800" dirty="0" err="1">
                <a:latin typeface="Arial" panose="020B0604020202020204" pitchFamily="34" charset="0"/>
                <a:cs typeface="Arial" panose="020B0604020202020204" pitchFamily="34" charset="0"/>
              </a:rPr>
              <a:t>ssGSEA</a:t>
            </a:r>
            <a:r>
              <a:rPr lang="en-US" altLang="ko-KR" sz="2800" dirty="0">
                <a:latin typeface="Arial" panose="020B0604020202020204" pitchFamily="34" charset="0"/>
                <a:cs typeface="Arial" panose="020B0604020202020204" pitchFamily="34" charset="0"/>
              </a:rPr>
              <a:t> &amp; GSVA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757C0C-DA7B-3B12-016D-3BC678F6269E}"/>
              </a:ext>
            </a:extLst>
          </p:cNvPr>
          <p:cNvSpPr txBox="1"/>
          <p:nvPr/>
        </p:nvSpPr>
        <p:spPr>
          <a:xfrm>
            <a:off x="28673" y="523220"/>
            <a:ext cx="9435838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*</a:t>
            </a:r>
            <a:r>
              <a:rPr lang="en-US" altLang="ko-KR" sz="20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ssGSEA</a:t>
            </a:r>
            <a:endParaRPr lang="en-US" altLang="ko-KR" sz="20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-Order genes by expression for each cell</a:t>
            </a: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-Make a ECDF (empirical cumulative distribution function) </a:t>
            </a: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for a given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geneset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and remaining genes, respectively</a:t>
            </a: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-Integration of difference between two ECDFs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73" y="2154436"/>
            <a:ext cx="5725019" cy="4601484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5686" y="2766265"/>
            <a:ext cx="2984348" cy="33050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757C0C-DA7B-3B12-016D-3BC678F6269E}"/>
              </a:ext>
            </a:extLst>
          </p:cNvPr>
          <p:cNvSpPr txBox="1"/>
          <p:nvPr/>
        </p:nvSpPr>
        <p:spPr>
          <a:xfrm>
            <a:off x="6086475" y="523220"/>
            <a:ext cx="5473025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*GSVA</a:t>
            </a: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-Order genes by expression for each cell</a:t>
            </a: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-Make a ECDF</a:t>
            </a: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-KS-test (Kolmogorov-Smirnov test)</a:t>
            </a: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Statistics by maximum difference</a:t>
            </a:r>
          </a:p>
        </p:txBody>
      </p:sp>
    </p:spTree>
    <p:extLst>
      <p:ext uri="{BB962C8B-B14F-4D97-AF65-F5344CB8AC3E}">
        <p14:creationId xmlns:p14="http://schemas.microsoft.com/office/powerpoint/2010/main" val="30608386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F7E1B-B287-585D-3151-EBF1C5EA1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55C448-C01F-02FE-8F37-2593C33031EB}"/>
              </a:ext>
            </a:extLst>
          </p:cNvPr>
          <p:cNvSpPr txBox="1"/>
          <p:nvPr/>
        </p:nvSpPr>
        <p:spPr>
          <a:xfrm>
            <a:off x="0" y="0"/>
            <a:ext cx="12172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800" dirty="0">
                <a:latin typeface="Arial" panose="020B0604020202020204" pitchFamily="34" charset="0"/>
                <a:cs typeface="Arial" panose="020B0604020202020204" pitchFamily="34" charset="0"/>
              </a:rPr>
              <a:t>Is not always good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6096000" y="6391136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1200" dirty="0"/>
              <a:t>Signature-scoring methods developed for bulk samples are not adequate for cancer single-cell RNA sequencing data</a:t>
            </a:r>
            <a:endParaRPr lang="ko-KR" altLang="en-US" sz="12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403" y="589209"/>
            <a:ext cx="3929445" cy="2732395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2911389" y="962152"/>
            <a:ext cx="1215510" cy="231739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3791" y="731962"/>
            <a:ext cx="6622805" cy="29080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C757C0C-DA7B-3B12-016D-3BC678F6269E}"/>
              </a:ext>
            </a:extLst>
          </p:cNvPr>
          <p:cNvSpPr txBox="1"/>
          <p:nvPr/>
        </p:nvSpPr>
        <p:spPr>
          <a:xfrm>
            <a:off x="4539792" y="3848754"/>
            <a:ext cx="718473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-Biased to cancer (upregulation &gt;&gt; down regulation)</a:t>
            </a:r>
          </a:p>
          <a:p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-Robustness (against noise): Up &gt; Down</a:t>
            </a:r>
          </a:p>
          <a:p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-Robustness (against down-sampling): </a:t>
            </a:r>
            <a:r>
              <a:rPr lang="en-US" altLang="ko-KR" sz="20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ssGSEA</a:t>
            </a: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(worst)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757C0C-DA7B-3B12-016D-3BC678F6269E}"/>
              </a:ext>
            </a:extLst>
          </p:cNvPr>
          <p:cNvSpPr txBox="1"/>
          <p:nvPr/>
        </p:nvSpPr>
        <p:spPr>
          <a:xfrm>
            <a:off x="5251966" y="2732071"/>
            <a:ext cx="60590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Up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757C0C-DA7B-3B12-016D-3BC678F6269E}"/>
              </a:ext>
            </a:extLst>
          </p:cNvPr>
          <p:cNvSpPr txBox="1"/>
          <p:nvPr/>
        </p:nvSpPr>
        <p:spPr>
          <a:xfrm>
            <a:off x="9109591" y="2732071"/>
            <a:ext cx="8535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Down</a:t>
            </a: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744" y="3624624"/>
            <a:ext cx="3392155" cy="2766512"/>
          </a:xfrm>
          <a:prstGeom prst="rect">
            <a:avLst/>
          </a:prstGeom>
        </p:spPr>
      </p:pic>
      <p:sp>
        <p:nvSpPr>
          <p:cNvPr id="13" name="직사각형 12"/>
          <p:cNvSpPr/>
          <p:nvPr/>
        </p:nvSpPr>
        <p:spPr>
          <a:xfrm>
            <a:off x="3322651" y="4156249"/>
            <a:ext cx="785197" cy="223488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67677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01EB9-0BAB-0874-F2A9-AF25CD7E6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7F038B-57E2-205E-CF48-66F54D5033B4}"/>
              </a:ext>
            </a:extLst>
          </p:cNvPr>
          <p:cNvSpPr txBox="1"/>
          <p:nvPr/>
        </p:nvSpPr>
        <p:spPr>
          <a:xfrm>
            <a:off x="0" y="0"/>
            <a:ext cx="6619875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800" dirty="0" err="1">
                <a:latin typeface="Arial" panose="020B0604020202020204" pitchFamily="34" charset="0"/>
                <a:cs typeface="Arial" panose="020B0604020202020204" pitchFamily="34" charset="0"/>
              </a:rPr>
              <a:t>cNMF</a:t>
            </a:r>
            <a:r>
              <a:rPr lang="en-US" altLang="ko-KR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altLang="ko-KR" sz="2200" dirty="0">
                <a:latin typeface="Arial" panose="020B0604020202020204" pitchFamily="34" charset="0"/>
                <a:cs typeface="Arial" panose="020B0604020202020204" pitchFamily="34" charset="0"/>
              </a:rPr>
              <a:t>(consensus non-negative matrix factorization)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rcRect l="4612" t="4914" r="-355" b="-421"/>
          <a:stretch/>
        </p:blipFill>
        <p:spPr>
          <a:xfrm>
            <a:off x="6188905" y="127000"/>
            <a:ext cx="5984045" cy="66770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C757C0C-DA7B-3B12-016D-3BC678F6269E}"/>
              </a:ext>
            </a:extLst>
          </p:cNvPr>
          <p:cNvSpPr txBox="1"/>
          <p:nvPr/>
        </p:nvSpPr>
        <p:spPr>
          <a:xfrm>
            <a:off x="0" y="1019552"/>
            <a:ext cx="630555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*Unsupervised approach</a:t>
            </a:r>
          </a:p>
          <a:p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NMF: Decomposition method</a:t>
            </a:r>
          </a:p>
          <a:p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Make W,H be close to X</a:t>
            </a:r>
          </a:p>
          <a:p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Gradient descending  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grpSp>
        <p:nvGrpSpPr>
          <p:cNvPr id="9" name="그룹 8"/>
          <p:cNvGrpSpPr/>
          <p:nvPr/>
        </p:nvGrpSpPr>
        <p:grpSpPr>
          <a:xfrm>
            <a:off x="0" y="2561238"/>
            <a:ext cx="4152900" cy="3090625"/>
            <a:chOff x="0" y="1688921"/>
            <a:chExt cx="4152900" cy="3090625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3066712"/>
              <a:ext cx="1771650" cy="609600"/>
            </a:xfrm>
            <a:prstGeom prst="rect">
              <a:avLst/>
            </a:prstGeom>
          </p:spPr>
        </p:pic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3665121"/>
              <a:ext cx="4152900" cy="1114425"/>
            </a:xfrm>
            <a:prstGeom prst="rect">
              <a:avLst/>
            </a:prstGeom>
          </p:spPr>
        </p:pic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0" y="2230179"/>
              <a:ext cx="2619375" cy="847725"/>
            </a:xfrm>
            <a:prstGeom prst="rect">
              <a:avLst/>
            </a:prstGeom>
          </p:spPr>
        </p:pic>
        <p:pic>
          <p:nvPicPr>
            <p:cNvPr id="8" name="그림 7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0" y="1688921"/>
              <a:ext cx="1657350" cy="552450"/>
            </a:xfrm>
            <a:prstGeom prst="rect">
              <a:avLst/>
            </a:prstGeom>
          </p:spPr>
        </p:pic>
      </p:grpSp>
      <p:sp>
        <p:nvSpPr>
          <p:cNvPr id="10" name="직사각형 9"/>
          <p:cNvSpPr/>
          <p:nvPr/>
        </p:nvSpPr>
        <p:spPr>
          <a:xfrm>
            <a:off x="1276349" y="3143433"/>
            <a:ext cx="1343025" cy="69909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화살표 연결선 10"/>
          <p:cNvCxnSpPr/>
          <p:nvPr/>
        </p:nvCxnSpPr>
        <p:spPr>
          <a:xfrm>
            <a:off x="1308461" y="2342991"/>
            <a:ext cx="729889" cy="74343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62483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01EB9-0BAB-0874-F2A9-AF25CD7E6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7F038B-57E2-205E-CF48-66F54D5033B4}"/>
              </a:ext>
            </a:extLst>
          </p:cNvPr>
          <p:cNvSpPr txBox="1"/>
          <p:nvPr/>
        </p:nvSpPr>
        <p:spPr>
          <a:xfrm>
            <a:off x="0" y="0"/>
            <a:ext cx="66198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800" dirty="0" err="1">
                <a:latin typeface="Arial" panose="020B0604020202020204" pitchFamily="34" charset="0"/>
                <a:cs typeface="Arial" panose="020B0604020202020204" pitchFamily="34" charset="0"/>
              </a:rPr>
              <a:t>cNMF</a:t>
            </a:r>
            <a:r>
              <a:rPr lang="en-US" altLang="ko-KR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rcRect l="4612" t="4914" r="-355" b="-421"/>
          <a:stretch/>
        </p:blipFill>
        <p:spPr>
          <a:xfrm>
            <a:off x="6188905" y="127000"/>
            <a:ext cx="5984045" cy="66770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C757C0C-DA7B-3B12-016D-3BC678F6269E}"/>
              </a:ext>
            </a:extLst>
          </p:cNvPr>
          <p:cNvSpPr txBox="1"/>
          <p:nvPr/>
        </p:nvSpPr>
        <p:spPr>
          <a:xfrm>
            <a:off x="0" y="523220"/>
            <a:ext cx="630555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X = WH</a:t>
            </a:r>
          </a:p>
          <a:p>
            <a:endParaRPr lang="en-US" altLang="ko-KR" sz="20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-X: gene expression (N x M)</a:t>
            </a: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N: cell, M: gene</a:t>
            </a:r>
          </a:p>
          <a:p>
            <a:endParaRPr lang="en-US" altLang="ko-KR" sz="20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-W: program usage (activity): N x k</a:t>
            </a: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k: number of program</a:t>
            </a:r>
          </a:p>
          <a:p>
            <a:endParaRPr lang="en-US" altLang="ko-KR" sz="20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-H: gene expression program: weight of each gene</a:t>
            </a: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k x M</a:t>
            </a:r>
          </a:p>
          <a:p>
            <a:endParaRPr lang="en-US" altLang="ko-KR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Consensus  robustness</a:t>
            </a:r>
          </a:p>
          <a:p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Take median value of each gene</a:t>
            </a:r>
          </a:p>
        </p:txBody>
      </p:sp>
    </p:spTree>
    <p:extLst>
      <p:ext uri="{BB962C8B-B14F-4D97-AF65-F5344CB8AC3E}">
        <p14:creationId xmlns:p14="http://schemas.microsoft.com/office/powerpoint/2010/main" val="2975937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01EB9-0BAB-0874-F2A9-AF25CD7E6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7F038B-57E2-205E-CF48-66F54D5033B4}"/>
              </a:ext>
            </a:extLst>
          </p:cNvPr>
          <p:cNvSpPr txBox="1"/>
          <p:nvPr/>
        </p:nvSpPr>
        <p:spPr>
          <a:xfrm>
            <a:off x="0" y="0"/>
            <a:ext cx="66198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800" dirty="0" err="1">
                <a:latin typeface="Arial" panose="020B0604020202020204" pitchFamily="34" charset="0"/>
                <a:cs typeface="Arial" panose="020B0604020202020204" pitchFamily="34" charset="0"/>
              </a:rPr>
              <a:t>cNMF</a:t>
            </a:r>
            <a:r>
              <a:rPr lang="en-US" altLang="ko-KR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362" y="666750"/>
            <a:ext cx="4786313" cy="33703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C757C0C-DA7B-3B12-016D-3BC678F6269E}"/>
              </a:ext>
            </a:extLst>
          </p:cNvPr>
          <p:cNvSpPr txBox="1"/>
          <p:nvPr/>
        </p:nvSpPr>
        <p:spPr>
          <a:xfrm>
            <a:off x="233362" y="3980565"/>
            <a:ext cx="367188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-Define </a:t>
            </a:r>
            <a:r>
              <a:rPr lang="en-US" altLang="ko-KR" sz="20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density_threshold</a:t>
            </a: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by KNN distance distribution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4450" y="436640"/>
            <a:ext cx="4038600" cy="2667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757C0C-DA7B-3B12-016D-3BC678F6269E}"/>
              </a:ext>
            </a:extLst>
          </p:cNvPr>
          <p:cNvSpPr txBox="1"/>
          <p:nvPr/>
        </p:nvSpPr>
        <p:spPr>
          <a:xfrm>
            <a:off x="5343525" y="3102648"/>
            <a:ext cx="63055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-K selection  stability: high, error: low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757C0C-DA7B-3B12-016D-3BC678F6269E}"/>
              </a:ext>
            </a:extLst>
          </p:cNvPr>
          <p:cNvSpPr txBox="1"/>
          <p:nvPr/>
        </p:nvSpPr>
        <p:spPr>
          <a:xfrm>
            <a:off x="5343525" y="3980565"/>
            <a:ext cx="630555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-Batch correction for input count matrix (harmony)</a:t>
            </a:r>
          </a:p>
          <a:p>
            <a:r>
              <a:rPr lang="en-US" altLang="ko-KR" sz="20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moe_correct_ridge</a:t>
            </a: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(same algorithm in harmony)</a:t>
            </a:r>
          </a:p>
          <a:p>
            <a:endParaRPr lang="en-US" altLang="ko-KR" sz="20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7452157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132FD9-A24A-4223-0690-1A95BA11EF2E}"/>
              </a:ext>
            </a:extLst>
          </p:cNvPr>
          <p:cNvSpPr txBox="1"/>
          <p:nvPr/>
        </p:nvSpPr>
        <p:spPr>
          <a:xfrm>
            <a:off x="0" y="0"/>
            <a:ext cx="1217295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800" dirty="0">
                <a:latin typeface="Arial" panose="020B0604020202020204" pitchFamily="34" charset="0"/>
                <a:cs typeface="Arial" panose="020B0604020202020204" pitchFamily="34" charset="0"/>
              </a:rPr>
              <a:t>Signature analysis</a:t>
            </a:r>
          </a:p>
          <a:p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Tumor infiltrating T cell </a:t>
            </a: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might be exhausted</a:t>
            </a:r>
          </a:p>
          <a:p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Exhaustion signature: PDCD1, CTLA4, HAVCR2, LAG3, TOX</a:t>
            </a:r>
          </a:p>
          <a:p>
            <a:endParaRPr lang="en-US" altLang="ko-KR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458628A9-0AB4-4C84-4CFA-DDC79EB022E9}"/>
              </a:ext>
            </a:extLst>
          </p:cNvPr>
          <p:cNvGrpSpPr/>
          <p:nvPr/>
        </p:nvGrpSpPr>
        <p:grpSpPr>
          <a:xfrm>
            <a:off x="311831" y="1293853"/>
            <a:ext cx="4572000" cy="4572000"/>
            <a:chOff x="616631" y="1814553"/>
            <a:chExt cx="4572000" cy="4572000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464088D4-3356-77BA-F2E5-26B4227303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6631" y="1814553"/>
              <a:ext cx="4572000" cy="4572000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46B36B5-68AE-F93E-1AA6-CC3C59235222}"/>
                </a:ext>
              </a:extLst>
            </p:cNvPr>
            <p:cNvSpPr txBox="1"/>
            <p:nvPr/>
          </p:nvSpPr>
          <p:spPr>
            <a:xfrm>
              <a:off x="1948167" y="2398104"/>
              <a:ext cx="19089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P value: 2.595e-05 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1386552-7F8B-CFC5-F071-BFD457CC8280}"/>
                </a:ext>
              </a:extLst>
            </p:cNvPr>
            <p:cNvSpPr txBox="1"/>
            <p:nvPr/>
          </p:nvSpPr>
          <p:spPr>
            <a:xfrm>
              <a:off x="1701971" y="5748771"/>
              <a:ext cx="9442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Normal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BA119D1-023C-7003-3B95-6B2554EB0AB7}"/>
                </a:ext>
              </a:extLst>
            </p:cNvPr>
            <p:cNvSpPr txBox="1"/>
            <p:nvPr/>
          </p:nvSpPr>
          <p:spPr>
            <a:xfrm>
              <a:off x="3521501" y="5748771"/>
              <a:ext cx="7918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Tumor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3DCEF01-FCFC-81D5-1785-57742A41711C}"/>
                </a:ext>
              </a:extLst>
            </p:cNvPr>
            <p:cNvSpPr txBox="1"/>
            <p:nvPr/>
          </p:nvSpPr>
          <p:spPr>
            <a:xfrm>
              <a:off x="2288533" y="1944988"/>
              <a:ext cx="13601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CD8 T cells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A6234A9-FE0D-AA5D-DEA6-B2D8A9C9EE4D}"/>
              </a:ext>
            </a:extLst>
          </p:cNvPr>
          <p:cNvSpPr txBox="1"/>
          <p:nvPr/>
        </p:nvSpPr>
        <p:spPr>
          <a:xfrm>
            <a:off x="4781877" y="1877404"/>
            <a:ext cx="6436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T cells in the tumor-microenvironment are exhausted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83424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02879-4141-6601-891D-4378F96C5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A35681-7808-ADAB-B802-DCEC71C1695A}"/>
              </a:ext>
            </a:extLst>
          </p:cNvPr>
          <p:cNvSpPr txBox="1"/>
          <p:nvPr/>
        </p:nvSpPr>
        <p:spPr>
          <a:xfrm>
            <a:off x="0" y="0"/>
            <a:ext cx="1217295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800" dirty="0">
                <a:latin typeface="Arial" panose="020B0604020202020204" pitchFamily="34" charset="0"/>
                <a:cs typeface="Arial" panose="020B0604020202020204" pitchFamily="34" charset="0"/>
              </a:rPr>
              <a:t>Cell abundance</a:t>
            </a:r>
          </a:p>
          <a:p>
            <a:r>
              <a:rPr lang="en-US" altLang="ko-KR" sz="2400" dirty="0">
                <a:latin typeface="Arial" panose="020B0604020202020204" pitchFamily="34" charset="0"/>
                <a:cs typeface="Arial" panose="020B0604020202020204" pitchFamily="34" charset="0"/>
              </a:rPr>
              <a:t>*T-test, Wilcoxon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rcRect l="15886" t="15833" b="10833"/>
          <a:stretch/>
        </p:blipFill>
        <p:spPr>
          <a:xfrm>
            <a:off x="161924" y="892552"/>
            <a:ext cx="3076575" cy="33528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A6234A9-FE0D-AA5D-DEA6-B2D8A9C9EE4D}"/>
              </a:ext>
            </a:extLst>
          </p:cNvPr>
          <p:cNvSpPr txBox="1"/>
          <p:nvPr/>
        </p:nvSpPr>
        <p:spPr>
          <a:xfrm>
            <a:off x="3400423" y="892552"/>
            <a:ext cx="753427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Always! Relative abundance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Why? The cell counts for each sample is always different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Sample size is usually very small for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scRNA-seq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342900" indent="-342900">
              <a:buFont typeface="Wingdings" panose="05000000000000000000" pitchFamily="2" charset="2"/>
              <a:buChar char="à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Poor power analysis (less significant)</a:t>
            </a:r>
          </a:p>
          <a:p>
            <a:pPr marL="342900" indent="-342900">
              <a:buFont typeface="Wingdings" panose="05000000000000000000" pitchFamily="2" charset="2"/>
              <a:buChar char="à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A35681-7808-ADAB-B802-DCEC71C1695A}"/>
              </a:ext>
            </a:extLst>
          </p:cNvPr>
          <p:cNvSpPr txBox="1"/>
          <p:nvPr/>
        </p:nvSpPr>
        <p:spPr>
          <a:xfrm>
            <a:off x="0" y="4245352"/>
            <a:ext cx="422104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Arial" panose="020B0604020202020204" pitchFamily="34" charset="0"/>
                <a:cs typeface="Arial" panose="020B0604020202020204" pitchFamily="34" charset="0"/>
              </a:rPr>
              <a:t>*Fisher’s exact test</a:t>
            </a:r>
          </a:p>
          <a:p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-Comparing by group-level</a:t>
            </a:r>
          </a:p>
          <a:p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-Very sensitive; high false-positive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4"/>
          <a:srcRect l="58750" b="19375"/>
          <a:stretch/>
        </p:blipFill>
        <p:spPr>
          <a:xfrm>
            <a:off x="4221042" y="3511233"/>
            <a:ext cx="1673466" cy="32708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A35681-7808-ADAB-B802-DCEC71C1695A}"/>
              </a:ext>
            </a:extLst>
          </p:cNvPr>
          <p:cNvSpPr txBox="1"/>
          <p:nvPr/>
        </p:nvSpPr>
        <p:spPr>
          <a:xfrm>
            <a:off x="6086475" y="3465513"/>
            <a:ext cx="4221042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lang="en-US" altLang="ko-KR" sz="2400" dirty="0" err="1">
                <a:latin typeface="Arial" panose="020B0604020202020204" pitchFamily="34" charset="0"/>
                <a:cs typeface="Arial" panose="020B0604020202020204" pitchFamily="34" charset="0"/>
              </a:rPr>
              <a:t>Dirichlet</a:t>
            </a:r>
            <a:r>
              <a:rPr lang="en-US" altLang="ko-KR" sz="2400" dirty="0">
                <a:latin typeface="Arial" panose="020B0604020202020204" pitchFamily="34" charset="0"/>
                <a:cs typeface="Arial" panose="020B0604020202020204" pitchFamily="34" charset="0"/>
              </a:rPr>
              <a:t> Regression</a:t>
            </a:r>
          </a:p>
          <a:p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-one </a:t>
            </a:r>
            <a:r>
              <a:rPr lang="en-US" altLang="ko-KR" sz="2000" dirty="0" err="1">
                <a:latin typeface="Arial" panose="020B0604020202020204" pitchFamily="34" charset="0"/>
                <a:cs typeface="Arial" panose="020B0604020202020204" pitchFamily="34" charset="0"/>
              </a:rPr>
              <a:t>celltype</a:t>
            </a: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 ↑</a:t>
            </a: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one </a:t>
            </a:r>
            <a:r>
              <a:rPr lang="en-US" altLang="ko-KR" sz="20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celtype</a:t>
            </a: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</a:p>
          <a:p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prior</a:t>
            </a: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 reference </a:t>
            </a:r>
          </a:p>
          <a:p>
            <a:r>
              <a:rPr lang="en-US" altLang="ko-KR" sz="2000" dirty="0" err="1">
                <a:latin typeface="Arial" panose="020B0604020202020204" pitchFamily="34" charset="0"/>
                <a:cs typeface="Arial" panose="020B0604020202020204" pitchFamily="34" charset="0"/>
              </a:rPr>
              <a:t>celltype</a:t>
            </a: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 selection</a:t>
            </a:r>
          </a:p>
          <a:p>
            <a:endParaRPr lang="en-US" altLang="ko-KR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2835" y="4311898"/>
            <a:ext cx="2833298" cy="2522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2820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02879-4141-6601-891D-4378F96C5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A35681-7808-ADAB-B802-DCEC71C1695A}"/>
              </a:ext>
            </a:extLst>
          </p:cNvPr>
          <p:cNvSpPr txBox="1"/>
          <p:nvPr/>
        </p:nvSpPr>
        <p:spPr>
          <a:xfrm>
            <a:off x="0" y="0"/>
            <a:ext cx="12172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800" dirty="0">
                <a:latin typeface="Arial" panose="020B0604020202020204" pitchFamily="34" charset="0"/>
                <a:cs typeface="Arial" panose="020B0604020202020204" pitchFamily="34" charset="0"/>
              </a:rPr>
              <a:t>Cell abundance (MILO)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6234A9-FE0D-AA5D-DEA6-B2D8A9C9EE4D}"/>
              </a:ext>
            </a:extLst>
          </p:cNvPr>
          <p:cNvSpPr txBox="1"/>
          <p:nvPr/>
        </p:nvSpPr>
        <p:spPr>
          <a:xfrm>
            <a:off x="5824765" y="1154139"/>
            <a:ext cx="591796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-KNN graph of cells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-Sampling to increase statistical power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-Perform enrichment test for each sampling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Which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condition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has more in the neighborhood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E13428D-B344-9766-BF9B-40D28CD26D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936" y="1034396"/>
            <a:ext cx="4446257" cy="3871161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A124C66D-9C59-7A17-C017-0DD5CFDC3A47}"/>
              </a:ext>
            </a:extLst>
          </p:cNvPr>
          <p:cNvSpPr/>
          <p:nvPr/>
        </p:nvSpPr>
        <p:spPr>
          <a:xfrm>
            <a:off x="1599987" y="3801045"/>
            <a:ext cx="1020749" cy="32554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882C4C25-B6E5-D1B9-9B90-FF04DFC9103A}"/>
              </a:ext>
            </a:extLst>
          </p:cNvPr>
          <p:cNvCxnSpPr>
            <a:cxnSpLocks/>
          </p:cNvCxnSpPr>
          <p:nvPr/>
        </p:nvCxnSpPr>
        <p:spPr>
          <a:xfrm flipV="1">
            <a:off x="2634064" y="2031999"/>
            <a:ext cx="3190701" cy="193182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11884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16907-C100-5D7F-2011-F42048E91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1F4349-BBF0-84DA-7830-603D4604959F}"/>
              </a:ext>
            </a:extLst>
          </p:cNvPr>
          <p:cNvSpPr txBox="1"/>
          <p:nvPr/>
        </p:nvSpPr>
        <p:spPr>
          <a:xfrm>
            <a:off x="0" y="0"/>
            <a:ext cx="12172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800" dirty="0">
                <a:latin typeface="Arial" panose="020B0604020202020204" pitchFamily="34" charset="0"/>
                <a:cs typeface="Arial" panose="020B0604020202020204" pitchFamily="34" charset="0"/>
              </a:rPr>
              <a:t>Cell abundance (MILO)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902578B-0FE7-2E76-2863-D1E4FF589E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0012"/>
          <a:stretch>
            <a:fillRect/>
          </a:stretch>
        </p:blipFill>
        <p:spPr>
          <a:xfrm>
            <a:off x="4788455" y="466595"/>
            <a:ext cx="4775606" cy="334232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2292A19-9DE9-5281-B7FA-F7AF65379D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65513"/>
            <a:ext cx="5118892" cy="3199306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B34C0748-C12D-EA26-B42D-DAC712E92DA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4881" b="46244"/>
          <a:stretch>
            <a:fillRect/>
          </a:stretch>
        </p:blipFill>
        <p:spPr>
          <a:xfrm>
            <a:off x="0" y="523220"/>
            <a:ext cx="4546210" cy="2888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0633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19BCA-F69F-7418-BC32-75D7F6B80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47BAD3-8638-6B75-6ECF-621B3F5D9718}"/>
              </a:ext>
            </a:extLst>
          </p:cNvPr>
          <p:cNvSpPr txBox="1"/>
          <p:nvPr/>
        </p:nvSpPr>
        <p:spPr>
          <a:xfrm>
            <a:off x="0" y="0"/>
            <a:ext cx="12172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800" dirty="0">
                <a:latin typeface="Arial" panose="020B0604020202020204" pitchFamily="34" charset="0"/>
                <a:cs typeface="Arial" panose="020B0604020202020204" pitchFamily="34" charset="0"/>
              </a:rPr>
              <a:t>Cell-pooling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2FFE9F9-D84F-360A-1D3D-F229DFC12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16" y="671001"/>
            <a:ext cx="5129290" cy="3580825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91F03FB4-D783-CC72-FDB8-9FC904B4A9D7}"/>
              </a:ext>
            </a:extLst>
          </p:cNvPr>
          <p:cNvSpPr/>
          <p:nvPr/>
        </p:nvSpPr>
        <p:spPr>
          <a:xfrm>
            <a:off x="1652815" y="1631043"/>
            <a:ext cx="431800" cy="3556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E1183B5-BB1A-7B19-0768-E252DCCDBDC6}"/>
              </a:ext>
            </a:extLst>
          </p:cNvPr>
          <p:cNvSpPr/>
          <p:nvPr/>
        </p:nvSpPr>
        <p:spPr>
          <a:xfrm>
            <a:off x="2706161" y="2570843"/>
            <a:ext cx="431800" cy="3556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85B1976-C4AA-A71D-9D54-23C513B130B2}"/>
              </a:ext>
            </a:extLst>
          </p:cNvPr>
          <p:cNvSpPr/>
          <p:nvPr/>
        </p:nvSpPr>
        <p:spPr>
          <a:xfrm>
            <a:off x="2706161" y="3055734"/>
            <a:ext cx="431800" cy="3556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6ECBEDE-5705-C43F-476B-21985CE85DC3}"/>
              </a:ext>
            </a:extLst>
          </p:cNvPr>
          <p:cNvSpPr/>
          <p:nvPr/>
        </p:nvSpPr>
        <p:spPr>
          <a:xfrm>
            <a:off x="1652815" y="3055734"/>
            <a:ext cx="431800" cy="3556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5370EE1-6014-E2E8-9FC9-3807522605B7}"/>
              </a:ext>
            </a:extLst>
          </p:cNvPr>
          <p:cNvSpPr/>
          <p:nvPr/>
        </p:nvSpPr>
        <p:spPr>
          <a:xfrm>
            <a:off x="3532417" y="2164443"/>
            <a:ext cx="431800" cy="3556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AC14EB5-1E4F-803C-DA3E-1B9D0DDE3493}"/>
              </a:ext>
            </a:extLst>
          </p:cNvPr>
          <p:cNvSpPr/>
          <p:nvPr/>
        </p:nvSpPr>
        <p:spPr>
          <a:xfrm>
            <a:off x="2706161" y="1247404"/>
            <a:ext cx="431800" cy="3556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B01C765-8B33-57AA-A49B-A1B2A6348640}"/>
              </a:ext>
            </a:extLst>
          </p:cNvPr>
          <p:cNvSpPr/>
          <p:nvPr/>
        </p:nvSpPr>
        <p:spPr>
          <a:xfrm>
            <a:off x="3532417" y="3055734"/>
            <a:ext cx="431800" cy="3556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3752294-B183-5CFA-15A5-F5181D6FC5EB}"/>
              </a:ext>
            </a:extLst>
          </p:cNvPr>
          <p:cNvSpPr/>
          <p:nvPr/>
        </p:nvSpPr>
        <p:spPr>
          <a:xfrm>
            <a:off x="3532417" y="1323952"/>
            <a:ext cx="431800" cy="3556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8D58598-DFDB-29AD-7718-93BA5F4CE22A}"/>
              </a:ext>
            </a:extLst>
          </p:cNvPr>
          <p:cNvSpPr/>
          <p:nvPr/>
        </p:nvSpPr>
        <p:spPr>
          <a:xfrm>
            <a:off x="3532417" y="3835685"/>
            <a:ext cx="431800" cy="3556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406C5A5-5DA4-0EBA-C180-DDE75116B31E}"/>
              </a:ext>
            </a:extLst>
          </p:cNvPr>
          <p:cNvSpPr/>
          <p:nvPr/>
        </p:nvSpPr>
        <p:spPr>
          <a:xfrm>
            <a:off x="4371373" y="3426574"/>
            <a:ext cx="431800" cy="3556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B2EBE36-AEFB-40FD-4D05-92918E983CA4}"/>
              </a:ext>
            </a:extLst>
          </p:cNvPr>
          <p:cNvSpPr/>
          <p:nvPr/>
        </p:nvSpPr>
        <p:spPr>
          <a:xfrm>
            <a:off x="1652815" y="2105814"/>
            <a:ext cx="431800" cy="3556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13D23C2-9846-B0C9-C392-8E7BE14020F2}"/>
              </a:ext>
            </a:extLst>
          </p:cNvPr>
          <p:cNvSpPr/>
          <p:nvPr/>
        </p:nvSpPr>
        <p:spPr>
          <a:xfrm>
            <a:off x="4371373" y="3005182"/>
            <a:ext cx="431800" cy="3556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65FD1D5-3781-3D9C-9ECE-24A9F0EEC332}"/>
              </a:ext>
            </a:extLst>
          </p:cNvPr>
          <p:cNvSpPr/>
          <p:nvPr/>
        </p:nvSpPr>
        <p:spPr>
          <a:xfrm>
            <a:off x="4371373" y="1666503"/>
            <a:ext cx="431800" cy="3556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00C808E-3D20-0F30-A228-D402AC42F032}"/>
              </a:ext>
            </a:extLst>
          </p:cNvPr>
          <p:cNvSpPr/>
          <p:nvPr/>
        </p:nvSpPr>
        <p:spPr>
          <a:xfrm>
            <a:off x="4371373" y="1206867"/>
            <a:ext cx="431800" cy="3556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C796317-44CE-C81C-5740-E476A76D1B5E}"/>
              </a:ext>
            </a:extLst>
          </p:cNvPr>
          <p:cNvSpPr txBox="1"/>
          <p:nvPr/>
        </p:nvSpPr>
        <p:spPr>
          <a:xfrm>
            <a:off x="178976" y="4529777"/>
            <a:ext cx="591796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-High drop-out rate: zero count ↑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-merge cells  pseudo cell  averaging  overcome drop-out!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4F0C7A74-FE28-FAF4-D7C7-789A23DE03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211" r="30078" b="50000"/>
          <a:stretch>
            <a:fillRect/>
          </a:stretch>
        </p:blipFill>
        <p:spPr>
          <a:xfrm>
            <a:off x="6317742" y="1207734"/>
            <a:ext cx="5430576" cy="3044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632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79C8B-7294-B9D4-E991-E1F14F363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210514-24F3-1F6B-F562-F6218BB21A65}"/>
              </a:ext>
            </a:extLst>
          </p:cNvPr>
          <p:cNvSpPr txBox="1"/>
          <p:nvPr/>
        </p:nvSpPr>
        <p:spPr>
          <a:xfrm>
            <a:off x="0" y="0"/>
            <a:ext cx="12172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800" dirty="0" err="1">
                <a:latin typeface="Arial" panose="020B0604020202020204" pitchFamily="34" charset="0"/>
                <a:cs typeface="Arial" panose="020B0604020202020204" pitchFamily="34" charset="0"/>
              </a:rPr>
              <a:t>Metacell</a:t>
            </a:r>
            <a:endParaRPr lang="en-US" altLang="ko-KR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rcRect b="61061"/>
          <a:stretch/>
        </p:blipFill>
        <p:spPr>
          <a:xfrm>
            <a:off x="0" y="778827"/>
            <a:ext cx="7177088" cy="3667792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l="53085" t="61752" r="554" b="-691"/>
          <a:stretch/>
        </p:blipFill>
        <p:spPr>
          <a:xfrm>
            <a:off x="7270623" y="805846"/>
            <a:ext cx="4026154" cy="44380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796317-44CE-C81C-5740-E476A76D1B5E}"/>
              </a:ext>
            </a:extLst>
          </p:cNvPr>
          <p:cNvSpPr txBox="1"/>
          <p:nvPr/>
        </p:nvSpPr>
        <p:spPr>
          <a:xfrm>
            <a:off x="178976" y="4529777"/>
            <a:ext cx="74918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-balanced KNN graph construction 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-resampling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consensus-based partitioning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-remove outliers</a:t>
            </a:r>
          </a:p>
        </p:txBody>
      </p:sp>
    </p:spTree>
    <p:extLst>
      <p:ext uri="{BB962C8B-B14F-4D97-AF65-F5344CB8AC3E}">
        <p14:creationId xmlns:p14="http://schemas.microsoft.com/office/powerpoint/2010/main" val="40259741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938E3-F0AE-3BCF-171F-AF56A602F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4C92E3-CF1C-1E84-FE6A-EA081CE5B236}"/>
              </a:ext>
            </a:extLst>
          </p:cNvPr>
          <p:cNvSpPr txBox="1"/>
          <p:nvPr/>
        </p:nvSpPr>
        <p:spPr>
          <a:xfrm>
            <a:off x="0" y="0"/>
            <a:ext cx="12172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800" dirty="0">
                <a:latin typeface="Arial" panose="020B0604020202020204" pitchFamily="34" charset="0"/>
                <a:cs typeface="Arial" panose="020B0604020202020204" pitchFamily="34" charset="0"/>
              </a:rPr>
              <a:t>BBKNN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796317-44CE-C81C-5740-E476A76D1B5E}"/>
              </a:ext>
            </a:extLst>
          </p:cNvPr>
          <p:cNvSpPr txBox="1"/>
          <p:nvPr/>
        </p:nvSpPr>
        <p:spPr>
          <a:xfrm>
            <a:off x="0" y="668977"/>
            <a:ext cx="7491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Difference by cell type &gt; difference by batch in a given cell type</a:t>
            </a:r>
          </a:p>
        </p:txBody>
      </p:sp>
      <p:pic>
        <p:nvPicPr>
          <p:cNvPr id="1026" name="Picture 2" descr="KN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14844"/>
            <a:ext cx="5554354" cy="4110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BKN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4354" y="1241506"/>
            <a:ext cx="5496588" cy="4083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C796317-44CE-C81C-5740-E476A76D1B5E}"/>
              </a:ext>
            </a:extLst>
          </p:cNvPr>
          <p:cNvSpPr txBox="1"/>
          <p:nvPr/>
        </p:nvSpPr>
        <p:spPr>
          <a:xfrm>
            <a:off x="0" y="5347372"/>
            <a:ext cx="74918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- KNN for whole data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- KNN across batch with smaller k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Batch corrected pooling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67723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6635C-0C45-C3A8-2532-7ACA2BD77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D8A361-19C2-293A-C359-E88E263DFF84}"/>
              </a:ext>
            </a:extLst>
          </p:cNvPr>
          <p:cNvSpPr txBox="1"/>
          <p:nvPr/>
        </p:nvSpPr>
        <p:spPr>
          <a:xfrm>
            <a:off x="0" y="0"/>
            <a:ext cx="12172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800" dirty="0" err="1">
                <a:latin typeface="Arial" panose="020B0604020202020204" pitchFamily="34" charset="0"/>
                <a:cs typeface="Arial" panose="020B0604020202020204" pitchFamily="34" charset="0"/>
              </a:rPr>
              <a:t>Pseudobulk</a:t>
            </a:r>
            <a:r>
              <a:rPr lang="en-US" altLang="ko-KR" sz="2800" dirty="0">
                <a:latin typeface="Arial" panose="020B0604020202020204" pitchFamily="34" charset="0"/>
                <a:cs typeface="Arial" panose="020B0604020202020204" pitchFamily="34" charset="0"/>
              </a:rPr>
              <a:t> DE analysis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C000A45-5EA1-0CF8-3137-74E6BAFCC664}"/>
              </a:ext>
            </a:extLst>
          </p:cNvPr>
          <p:cNvSpPr/>
          <p:nvPr/>
        </p:nvSpPr>
        <p:spPr>
          <a:xfrm>
            <a:off x="6096000" y="6581001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1200" dirty="0"/>
              <a:t>Confronting false discoveries in single-cell differential expression</a:t>
            </a:r>
            <a:endParaRPr lang="ko-KR" altLang="en-US" sz="12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D8AE470-5029-22F3-E299-F17B8F0F72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6496" b="52695"/>
          <a:stretch>
            <a:fillRect/>
          </a:stretch>
        </p:blipFill>
        <p:spPr>
          <a:xfrm>
            <a:off x="304451" y="885998"/>
            <a:ext cx="3872613" cy="26661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54518C0-4ACE-9430-E130-439234A3027D}"/>
              </a:ext>
            </a:extLst>
          </p:cNvPr>
          <p:cNvSpPr txBox="1"/>
          <p:nvPr/>
        </p:nvSpPr>
        <p:spPr>
          <a:xfrm>
            <a:off x="4514850" y="885998"/>
            <a:ext cx="749182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-Extreme case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-Generate a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pseudobulk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for each sample (each cell type)</a:t>
            </a:r>
          </a:p>
          <a:p>
            <a:pPr marL="342900" indent="-342900">
              <a:buFont typeface="Wingdings" panose="05000000000000000000" pitchFamily="2" charset="2"/>
              <a:buChar char="à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Perform bulk DE analysis (DESeq2,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Limma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edgeR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…)</a:t>
            </a:r>
          </a:p>
          <a:p>
            <a:pPr marL="342900" indent="-342900">
              <a:buFont typeface="Wingdings" panose="05000000000000000000" pitchFamily="2" charset="2"/>
              <a:buChar char="à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-Overcome high dropout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-susceptible to outlier cells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-cannot account for expressing cell ratio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0861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BA061-65E6-60E2-8265-0791FD7E1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ED3D60-542D-BD0C-862D-0A8268AE4544}"/>
              </a:ext>
            </a:extLst>
          </p:cNvPr>
          <p:cNvSpPr txBox="1"/>
          <p:nvPr/>
        </p:nvSpPr>
        <p:spPr>
          <a:xfrm>
            <a:off x="0" y="0"/>
            <a:ext cx="12172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800" dirty="0">
                <a:latin typeface="Arial" panose="020B0604020202020204" pitchFamily="34" charset="0"/>
                <a:cs typeface="Arial" panose="020B0604020202020204" pitchFamily="34" charset="0"/>
              </a:rPr>
              <a:t>Network analysis in </a:t>
            </a:r>
            <a:r>
              <a:rPr lang="en-US" altLang="ko-KR" sz="2800" dirty="0" err="1">
                <a:latin typeface="Arial" panose="020B0604020202020204" pitchFamily="34" charset="0"/>
                <a:cs typeface="Arial" panose="020B0604020202020204" pitchFamily="34" charset="0"/>
              </a:rPr>
              <a:t>scRNA</a:t>
            </a:r>
            <a:r>
              <a:rPr lang="en-US" altLang="ko-KR" sz="2800" dirty="0">
                <a:latin typeface="Arial" panose="020B0604020202020204" pitchFamily="34" charset="0"/>
                <a:cs typeface="Arial" panose="020B0604020202020204" pitchFamily="34" charset="0"/>
              </a:rPr>
              <a:t>-seq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BCF0DB8-A375-DBDC-1866-9695B1C7EC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137" y="957262"/>
            <a:ext cx="6524625" cy="21050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FD50BD2-8EC3-0126-B64B-E83F63697F6E}"/>
              </a:ext>
            </a:extLst>
          </p:cNvPr>
          <p:cNvSpPr txBox="1"/>
          <p:nvPr/>
        </p:nvSpPr>
        <p:spPr>
          <a:xfrm>
            <a:off x="638175" y="3496329"/>
            <a:ext cx="74918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-Skewed too much to zero-counts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 Hard to obtain a suitable correlation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C75829-D789-5D0F-BF3F-BCE0727F52E0}"/>
              </a:ext>
            </a:extLst>
          </p:cNvPr>
          <p:cNvSpPr txBox="1"/>
          <p:nvPr/>
        </p:nvSpPr>
        <p:spPr>
          <a:xfrm>
            <a:off x="0" y="6488668"/>
            <a:ext cx="82132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Cell-type-specific co-expression inference from single cell RNA-sequencing data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60709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25000-8284-4502-D5A8-53A813F9D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11D05D-9D45-D857-D9F2-FD387E205CFA}"/>
              </a:ext>
            </a:extLst>
          </p:cNvPr>
          <p:cNvSpPr txBox="1"/>
          <p:nvPr/>
        </p:nvSpPr>
        <p:spPr>
          <a:xfrm>
            <a:off x="0" y="0"/>
            <a:ext cx="12172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800" dirty="0">
                <a:latin typeface="Arial" panose="020B0604020202020204" pitchFamily="34" charset="0"/>
                <a:cs typeface="Arial" panose="020B0604020202020204" pitchFamily="34" charset="0"/>
              </a:rPr>
              <a:t>BigScale2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26A7C0A-3B98-F903-EEED-D8D3E0EE9F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8185"/>
          <a:stretch>
            <a:fillRect/>
          </a:stretch>
        </p:blipFill>
        <p:spPr>
          <a:xfrm>
            <a:off x="0" y="653209"/>
            <a:ext cx="6136043" cy="176688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60126AC-B1F8-3363-39D6-043E79078F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7626"/>
          <a:stretch>
            <a:fillRect/>
          </a:stretch>
        </p:blipFill>
        <p:spPr>
          <a:xfrm>
            <a:off x="-9525" y="2550087"/>
            <a:ext cx="6096000" cy="16508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3CE1D2A-2703-81D7-524F-CB063B78FC84}"/>
              </a:ext>
            </a:extLst>
          </p:cNvPr>
          <p:cNvSpPr txBox="1"/>
          <p:nvPr/>
        </p:nvSpPr>
        <p:spPr>
          <a:xfrm>
            <a:off x="95249" y="4446965"/>
            <a:ext cx="88296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-High granularity clustering: </a:t>
            </a: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Recursive clustering (Hierarchical clustering)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-all pairwise comparison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DE  measure Z-score for each gene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Correlation (similar effect of cell-pooling)</a:t>
            </a:r>
          </a:p>
        </p:txBody>
      </p:sp>
    </p:spTree>
    <p:extLst>
      <p:ext uri="{BB962C8B-B14F-4D97-AF65-F5344CB8AC3E}">
        <p14:creationId xmlns:p14="http://schemas.microsoft.com/office/powerpoint/2010/main" val="19601243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45F26-6757-9103-0537-FEFF91FAB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0D37E3-D27B-33AA-4F0C-47D68798E64B}"/>
              </a:ext>
            </a:extLst>
          </p:cNvPr>
          <p:cNvSpPr txBox="1"/>
          <p:nvPr/>
        </p:nvSpPr>
        <p:spPr>
          <a:xfrm>
            <a:off x="0" y="0"/>
            <a:ext cx="12172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800" dirty="0" err="1">
                <a:latin typeface="Arial" panose="020B0604020202020204" pitchFamily="34" charset="0"/>
                <a:cs typeface="Arial" panose="020B0604020202020204" pitchFamily="34" charset="0"/>
              </a:rPr>
              <a:t>scHumanNet</a:t>
            </a:r>
            <a:endParaRPr lang="en-US" altLang="ko-KR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39D8A38-D2F2-7CA9-FC0E-CA0AECFFE7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" b="63611"/>
          <a:stretch>
            <a:fillRect/>
          </a:stretch>
        </p:blipFill>
        <p:spPr>
          <a:xfrm>
            <a:off x="288415" y="523220"/>
            <a:ext cx="6484369" cy="332157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125FF6AD-9C2B-7827-28FC-1F3E9D5A6F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214" y="3735262"/>
            <a:ext cx="4898795" cy="3122738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83414960-73C2-D742-6615-865E0A16CD2B}"/>
              </a:ext>
            </a:extLst>
          </p:cNvPr>
          <p:cNvSpPr/>
          <p:nvPr/>
        </p:nvSpPr>
        <p:spPr>
          <a:xfrm>
            <a:off x="3382633" y="3682024"/>
            <a:ext cx="1020749" cy="32554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AABABDDB-3F8B-5EA6-E6DE-201217260198}"/>
              </a:ext>
            </a:extLst>
          </p:cNvPr>
          <p:cNvCxnSpPr>
            <a:cxnSpLocks/>
          </p:cNvCxnSpPr>
          <p:nvPr/>
        </p:nvCxnSpPr>
        <p:spPr>
          <a:xfrm flipH="1" flipV="1">
            <a:off x="1993900" y="2742733"/>
            <a:ext cx="1648758" cy="93929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9AC2FF6-4FF5-114D-4404-5CA4D3B1BB4D}"/>
              </a:ext>
            </a:extLst>
          </p:cNvPr>
          <p:cNvSpPr txBox="1"/>
          <p:nvPr/>
        </p:nvSpPr>
        <p:spPr>
          <a:xfrm>
            <a:off x="6945992" y="523220"/>
            <a:ext cx="495759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-Filtering out the “cell-type-specific” network from the reference network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-HumanNetv3, String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*SCINET framework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-clustering  Archetype  transcriptome interpolation (smoothing)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-gene expression transformation</a:t>
            </a:r>
          </a:p>
          <a:p>
            <a:pPr marL="342900" indent="-342900">
              <a:buFont typeface="Wingdings" panose="05000000000000000000" pitchFamily="2" charset="2"/>
              <a:buChar char="à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Better distribution</a:t>
            </a:r>
          </a:p>
          <a:p>
            <a:pPr marL="342900" indent="-342900">
              <a:buFont typeface="Wingdings" panose="05000000000000000000" pitchFamily="2" charset="2"/>
              <a:buChar char="à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-subsampling (per cell type)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-p-value for interacting gene-pair vs Null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-aggregate p-values by Fisher’s method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Or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Just take the edge and use the original edge score</a:t>
            </a:r>
          </a:p>
        </p:txBody>
      </p:sp>
    </p:spTree>
    <p:extLst>
      <p:ext uri="{BB962C8B-B14F-4D97-AF65-F5344CB8AC3E}">
        <p14:creationId xmlns:p14="http://schemas.microsoft.com/office/powerpoint/2010/main" val="32192272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AB82F-FC0C-3F52-B1C3-3D88EEFCC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423E0B2-326D-163F-EFF3-D611F43B3E2B}"/>
              </a:ext>
            </a:extLst>
          </p:cNvPr>
          <p:cNvSpPr txBox="1"/>
          <p:nvPr/>
        </p:nvSpPr>
        <p:spPr>
          <a:xfrm>
            <a:off x="0" y="0"/>
            <a:ext cx="12172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800" dirty="0">
                <a:latin typeface="Arial" panose="020B0604020202020204" pitchFamily="34" charset="0"/>
                <a:cs typeface="Arial" panose="020B0604020202020204" pitchFamily="34" charset="0"/>
              </a:rPr>
              <a:t>SCENIC (genie3)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2F1ABA1-BE25-C2A1-2193-28472B4DF2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7254"/>
          <a:stretch>
            <a:fillRect/>
          </a:stretch>
        </p:blipFill>
        <p:spPr>
          <a:xfrm>
            <a:off x="19050" y="523220"/>
            <a:ext cx="2543332" cy="496228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03B38C18-42D0-5A00-8E17-2B734C83A7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6359" y="523220"/>
            <a:ext cx="7020232" cy="33708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4B03757-6B24-9077-D4AE-4736DF2260A0}"/>
              </a:ext>
            </a:extLst>
          </p:cNvPr>
          <p:cNvSpPr txBox="1"/>
          <p:nvPr/>
        </p:nvSpPr>
        <p:spPr>
          <a:xfrm>
            <a:off x="2449359" y="4088011"/>
            <a:ext cx="974264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*Genie3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-Constructing gene-regulatory network (or Transcription Factor regulatory NW: TRN)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-Based on Genie3 (developed for bulk RNA data)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-output gene exp  explained by input genes (random forest) [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coexpression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pattern]  TF filtering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-output gene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)  input gene (j1, j2, j3) score  ranking (by importance)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GRNBoost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for speed</a:t>
            </a:r>
          </a:p>
        </p:txBody>
      </p:sp>
    </p:spTree>
    <p:extLst>
      <p:ext uri="{BB962C8B-B14F-4D97-AF65-F5344CB8AC3E}">
        <p14:creationId xmlns:p14="http://schemas.microsoft.com/office/powerpoint/2010/main" val="8460287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0621A-08EC-E4B2-4AA6-73E382A42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4BEEE2-11CE-F07E-CE20-64C765EF20EF}"/>
              </a:ext>
            </a:extLst>
          </p:cNvPr>
          <p:cNvSpPr txBox="1"/>
          <p:nvPr/>
        </p:nvSpPr>
        <p:spPr>
          <a:xfrm>
            <a:off x="0" y="0"/>
            <a:ext cx="12172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800" dirty="0">
                <a:latin typeface="Arial" panose="020B0604020202020204" pitchFamily="34" charset="0"/>
                <a:cs typeface="Arial" panose="020B0604020202020204" pitchFamily="34" charset="0"/>
              </a:rPr>
              <a:t>SCENIC (genie3)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00DF4F-97A4-7607-2FE5-D9CE32089544}"/>
              </a:ext>
            </a:extLst>
          </p:cNvPr>
          <p:cNvSpPr txBox="1"/>
          <p:nvPr/>
        </p:nvSpPr>
        <p:spPr>
          <a:xfrm>
            <a:off x="2676832" y="802620"/>
            <a:ext cx="901986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-We obtained TF- target gene (correlation or association)</a:t>
            </a:r>
          </a:p>
          <a:p>
            <a:pPr marL="342900" indent="-342900">
              <a:buFont typeface="Wingdings" panose="05000000000000000000" pitchFamily="2" charset="2"/>
              <a:buChar char="à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Not all the TF binds to the target gene</a:t>
            </a:r>
          </a:p>
          <a:p>
            <a:pPr marL="342900" indent="-342900">
              <a:buFont typeface="Wingdings" panose="05000000000000000000" pitchFamily="2" charset="2"/>
              <a:buChar char="à"/>
            </a:pP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RcisTarget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: cis-regulatory motif analysis </a:t>
            </a:r>
          </a:p>
          <a:p>
            <a:pPr marL="342900" indent="-342900">
              <a:buFont typeface="Wingdings" panose="05000000000000000000" pitchFamily="2" charset="2"/>
              <a:buChar char="à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Only enriched TF can bind to the promoter of a given genes</a:t>
            </a:r>
          </a:p>
          <a:p>
            <a:pPr marL="342900" indent="-342900">
              <a:buFont typeface="Wingdings" panose="05000000000000000000" pitchFamily="2" charset="2"/>
              <a:buChar char="à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*Regulon activity: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AUCell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3C09897-5FB8-9049-8436-8E4C9CBE5D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7254"/>
          <a:stretch>
            <a:fillRect/>
          </a:stretch>
        </p:blipFill>
        <p:spPr>
          <a:xfrm>
            <a:off x="19050" y="523220"/>
            <a:ext cx="2543332" cy="496228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92F0552-9E93-F7D4-1207-8D68CC79662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74824"/>
          <a:stretch>
            <a:fillRect/>
          </a:stretch>
        </p:blipFill>
        <p:spPr>
          <a:xfrm>
            <a:off x="2676832" y="2741612"/>
            <a:ext cx="5224960" cy="2780619"/>
          </a:xfrm>
          <a:prstGeom prst="rect">
            <a:avLst/>
          </a:prstGeom>
        </p:spPr>
      </p:pic>
      <p:grpSp>
        <p:nvGrpSpPr>
          <p:cNvPr id="15" name="그룹 14">
            <a:extLst>
              <a:ext uri="{FF2B5EF4-FFF2-40B4-BE49-F238E27FC236}">
                <a16:creationId xmlns:a16="http://schemas.microsoft.com/office/drawing/2014/main" id="{547A3FF1-12D1-0623-507C-83ED41E19B7F}"/>
              </a:ext>
            </a:extLst>
          </p:cNvPr>
          <p:cNvGrpSpPr/>
          <p:nvPr/>
        </p:nvGrpSpPr>
        <p:grpSpPr>
          <a:xfrm>
            <a:off x="3949461" y="2638626"/>
            <a:ext cx="2880114" cy="1228524"/>
            <a:chOff x="3949461" y="2638626"/>
            <a:chExt cx="2880114" cy="1228524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747C3B7D-82A8-2476-42F9-DB1B7BB60F13}"/>
                </a:ext>
              </a:extLst>
            </p:cNvPr>
            <p:cNvSpPr/>
            <p:nvPr/>
          </p:nvSpPr>
          <p:spPr>
            <a:xfrm>
              <a:off x="3949461" y="3021012"/>
              <a:ext cx="2765664" cy="846138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C9E9F60-28EA-4A88-6ECF-171FF337B0CC}"/>
                </a:ext>
              </a:extLst>
            </p:cNvPr>
            <p:cNvSpPr txBox="1"/>
            <p:nvPr/>
          </p:nvSpPr>
          <p:spPr>
            <a:xfrm>
              <a:off x="6134557" y="2638626"/>
              <a:ext cx="69501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TF</a:t>
              </a:r>
              <a:endPara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2D7F484E-BE2D-0A9F-F165-2EC3180D8759}"/>
              </a:ext>
            </a:extLst>
          </p:cNvPr>
          <p:cNvGrpSpPr/>
          <p:nvPr/>
        </p:nvGrpSpPr>
        <p:grpSpPr>
          <a:xfrm>
            <a:off x="2562382" y="3735970"/>
            <a:ext cx="3771742" cy="2519465"/>
            <a:chOff x="2562382" y="3735970"/>
            <a:chExt cx="3771742" cy="2519465"/>
          </a:xfrm>
        </p:grpSpPr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A0078ED3-7840-C53F-5BBB-3DE5A3524E1C}"/>
                </a:ext>
              </a:extLst>
            </p:cNvPr>
            <p:cNvSpPr/>
            <p:nvPr/>
          </p:nvSpPr>
          <p:spPr>
            <a:xfrm>
              <a:off x="2562382" y="3735970"/>
              <a:ext cx="3771742" cy="2093231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3BE770C-3D83-93A9-1EA6-C6AA2E64C97E}"/>
                </a:ext>
              </a:extLst>
            </p:cNvPr>
            <p:cNvSpPr txBox="1"/>
            <p:nvPr/>
          </p:nvSpPr>
          <p:spPr>
            <a:xfrm>
              <a:off x="3881669" y="5855325"/>
              <a:ext cx="129040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Regulon</a:t>
              </a:r>
              <a:endParaRPr lang="en-US" sz="2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A3918963-E762-77FA-24FC-DADAC4C75FEE}"/>
              </a:ext>
            </a:extLst>
          </p:cNvPr>
          <p:cNvGrpSpPr/>
          <p:nvPr/>
        </p:nvGrpSpPr>
        <p:grpSpPr>
          <a:xfrm>
            <a:off x="6293579" y="3082402"/>
            <a:ext cx="5755546" cy="2099039"/>
            <a:chOff x="6293579" y="3082402"/>
            <a:chExt cx="5755546" cy="2099039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E30573A8-6296-904A-A499-EB9EE1DA32A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4153" t="27917" r="13474" b="53078"/>
            <a:stretch>
              <a:fillRect/>
            </a:stretch>
          </p:blipFill>
          <p:spPr>
            <a:xfrm>
              <a:off x="8267700" y="3082402"/>
              <a:ext cx="3781425" cy="2099039"/>
            </a:xfrm>
            <a:prstGeom prst="rect">
              <a:avLst/>
            </a:prstGeom>
          </p:spPr>
        </p:pic>
        <p:cxnSp>
          <p:nvCxnSpPr>
            <p:cNvPr id="13" name="직선 화살표 연결선 12">
              <a:extLst>
                <a:ext uri="{FF2B5EF4-FFF2-40B4-BE49-F238E27FC236}">
                  <a16:creationId xmlns:a16="http://schemas.microsoft.com/office/drawing/2014/main" id="{6F91BE03-DF4A-A174-0EA9-35863EADA4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93579" y="4033094"/>
              <a:ext cx="3031396" cy="939291"/>
            </a:xfrm>
            <a:prstGeom prst="straightConnector1">
              <a:avLst/>
            </a:prstGeom>
            <a:ln w="28575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577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D393D-A683-73A5-E976-A284D3D71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A02F1C-9645-9A43-4BA9-32EEE3120F18}"/>
              </a:ext>
            </a:extLst>
          </p:cNvPr>
          <p:cNvSpPr txBox="1"/>
          <p:nvPr/>
        </p:nvSpPr>
        <p:spPr>
          <a:xfrm>
            <a:off x="0" y="0"/>
            <a:ext cx="12172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800" dirty="0">
                <a:latin typeface="Arial" panose="020B0604020202020204" pitchFamily="34" charset="0"/>
                <a:cs typeface="Arial" panose="020B0604020202020204" pitchFamily="34" charset="0"/>
              </a:rPr>
              <a:t>Cell-Cell</a:t>
            </a:r>
            <a:r>
              <a:rPr lang="ko-KR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2800" dirty="0">
                <a:latin typeface="Arial" panose="020B0604020202020204" pitchFamily="34" charset="0"/>
                <a:cs typeface="Arial" panose="020B0604020202020204" pitchFamily="34" charset="0"/>
              </a:rPr>
              <a:t>interaction</a:t>
            </a:r>
            <a:r>
              <a:rPr lang="ko-KR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28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ko-KR" sz="2800" dirty="0" err="1">
                <a:latin typeface="Arial" panose="020B0604020202020204" pitchFamily="34" charset="0"/>
                <a:cs typeface="Arial" panose="020B0604020202020204" pitchFamily="34" charset="0"/>
              </a:rPr>
              <a:t>CellPhoneDB</a:t>
            </a:r>
            <a:r>
              <a:rPr lang="en-US" altLang="ko-KR" sz="2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ko-KR" sz="2800" dirty="0" err="1">
                <a:latin typeface="Arial" panose="020B0604020202020204" pitchFamily="34" charset="0"/>
                <a:cs typeface="Arial" panose="020B0604020202020204" pitchFamily="34" charset="0"/>
              </a:rPr>
              <a:t>CellChat</a:t>
            </a:r>
            <a:r>
              <a:rPr lang="en-US" altLang="ko-KR" sz="28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D3743D3-AF14-84E6-FF38-38FE56F2F7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6063"/>
            <a:ext cx="7493786" cy="2794293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8BB5685-2278-0385-217D-02A9C74D049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2660" b="19979"/>
          <a:stretch/>
        </p:blipFill>
        <p:spPr>
          <a:xfrm>
            <a:off x="5852279" y="4107912"/>
            <a:ext cx="5519976" cy="2414679"/>
          </a:xfrm>
          <a:prstGeom prst="rect">
            <a:avLst/>
          </a:prstGeom>
        </p:spPr>
      </p:pic>
      <p:sp>
        <p:nvSpPr>
          <p:cNvPr id="5" name="CuadroTexto 6">
            <a:extLst>
              <a:ext uri="{FF2B5EF4-FFF2-40B4-BE49-F238E27FC236}">
                <a16:creationId xmlns:a16="http://schemas.microsoft.com/office/drawing/2014/main" id="{DEADB5E8-04BB-92BA-1169-209500F32CA7}"/>
              </a:ext>
            </a:extLst>
          </p:cNvPr>
          <p:cNvSpPr txBox="1"/>
          <p:nvPr/>
        </p:nvSpPr>
        <p:spPr>
          <a:xfrm>
            <a:off x="7425629" y="482890"/>
            <a:ext cx="464613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-Cluster-to-Cluster interaction</a:t>
            </a:r>
          </a:p>
          <a:p>
            <a:pPr marL="342900" indent="-342900">
              <a:buFont typeface="Wingdings" panose="05000000000000000000" pitchFamily="2" charset="2"/>
              <a:buChar char="à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Measure the mean expression of receptor-ligand pair</a:t>
            </a:r>
          </a:p>
          <a:p>
            <a:pPr marL="342900" indent="-342900">
              <a:buFont typeface="Wingdings" panose="05000000000000000000" pitchFamily="2" charset="2"/>
              <a:buChar char="à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Shuffle the cells: Null distribution</a:t>
            </a:r>
          </a:p>
          <a:p>
            <a:pPr marL="342900" indent="-342900">
              <a:buFont typeface="Wingdings" panose="05000000000000000000" pitchFamily="2" charset="2"/>
              <a:buChar char="à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P-value measurement for each pair</a:t>
            </a:r>
          </a:p>
          <a:p>
            <a:pPr marL="342900" indent="-342900">
              <a:buFont typeface="Wingdings" panose="05000000000000000000" pitchFamily="2" charset="2"/>
              <a:buChar char="à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Strength: mean expression</a:t>
            </a:r>
          </a:p>
          <a:p>
            <a:pPr marL="342900" indent="-342900">
              <a:buFont typeface="Wingdings" panose="05000000000000000000" pitchFamily="2" charset="2"/>
              <a:buChar char="à"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+ complex: mean expression</a:t>
            </a: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AE3FF22-821C-8AFD-D2C9-6E154525B73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1042" b="39677"/>
          <a:stretch>
            <a:fillRect/>
          </a:stretch>
        </p:blipFill>
        <p:spPr>
          <a:xfrm>
            <a:off x="0" y="3821041"/>
            <a:ext cx="5832724" cy="2834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1099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642E4-19E5-D050-3C47-B7A4FFBC9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EF71FD-0274-6ECC-6D88-B9FB8D8E72D5}"/>
              </a:ext>
            </a:extLst>
          </p:cNvPr>
          <p:cNvSpPr txBox="1"/>
          <p:nvPr/>
        </p:nvSpPr>
        <p:spPr>
          <a:xfrm>
            <a:off x="0" y="0"/>
            <a:ext cx="12172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800" dirty="0">
                <a:latin typeface="Arial" panose="020B0604020202020204" pitchFamily="34" charset="0"/>
                <a:cs typeface="Arial" panose="020B0604020202020204" pitchFamily="34" charset="0"/>
              </a:rPr>
              <a:t>Cell-Cell</a:t>
            </a:r>
            <a:r>
              <a:rPr lang="ko-KR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2800" dirty="0">
                <a:latin typeface="Arial" panose="020B0604020202020204" pitchFamily="34" charset="0"/>
                <a:cs typeface="Arial" panose="020B0604020202020204" pitchFamily="34" charset="0"/>
              </a:rPr>
              <a:t>interaction</a:t>
            </a:r>
            <a:r>
              <a:rPr lang="ko-KR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28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ko-KR" sz="2800" dirty="0" err="1">
                <a:latin typeface="Arial" panose="020B0604020202020204" pitchFamily="34" charset="0"/>
                <a:cs typeface="Arial" panose="020B0604020202020204" pitchFamily="34" charset="0"/>
              </a:rPr>
              <a:t>CytoTalk</a:t>
            </a:r>
            <a:r>
              <a:rPr lang="en-US" altLang="ko-KR" sz="28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772ADE0-D08C-31ED-DBF6-496FB4EF8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341" y="1233714"/>
            <a:ext cx="4987776" cy="4709886"/>
          </a:xfrm>
          <a:prstGeom prst="rect">
            <a:avLst/>
          </a:prstGeom>
        </p:spPr>
      </p:pic>
      <p:sp>
        <p:nvSpPr>
          <p:cNvPr id="5" name="CuadroTexto 6">
            <a:extLst>
              <a:ext uri="{FF2B5EF4-FFF2-40B4-BE49-F238E27FC236}">
                <a16:creationId xmlns:a16="http://schemas.microsoft.com/office/drawing/2014/main" id="{7C00A0D1-10B4-2088-9EC7-520A3646EBCF}"/>
              </a:ext>
            </a:extLst>
          </p:cNvPr>
          <p:cNvSpPr txBox="1"/>
          <p:nvPr/>
        </p:nvSpPr>
        <p:spPr>
          <a:xfrm>
            <a:off x="6086474" y="523220"/>
            <a:ext cx="590232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What is the downstream of interaction?</a:t>
            </a:r>
          </a:p>
          <a:p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-Cell-cell interaction: intercellular interaction</a:t>
            </a:r>
          </a:p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-Intra-cellular network: mutual information</a:t>
            </a:r>
          </a:p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(co-occurrence of gene expression across cells)</a:t>
            </a:r>
          </a:p>
          <a:p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-Network propagation algorithm</a:t>
            </a:r>
          </a:p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Remain only the significant edges</a:t>
            </a: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1C954E5-F3E3-B80C-8ACD-A36434BFE7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4104" y="3557087"/>
            <a:ext cx="6174695" cy="2777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6972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A5483-3D62-1610-E68C-B9328D908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86B08-1F2E-EC97-1C79-71CCCC18A046}"/>
              </a:ext>
            </a:extLst>
          </p:cNvPr>
          <p:cNvSpPr txBox="1"/>
          <p:nvPr/>
        </p:nvSpPr>
        <p:spPr>
          <a:xfrm>
            <a:off x="0" y="0"/>
            <a:ext cx="12172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800" dirty="0">
                <a:latin typeface="Arial" panose="020B0604020202020204" pitchFamily="34" charset="0"/>
                <a:cs typeface="Arial" panose="020B0604020202020204" pitchFamily="34" charset="0"/>
              </a:rPr>
              <a:t>Cell-Cell</a:t>
            </a:r>
            <a:r>
              <a:rPr lang="ko-KR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2800" dirty="0">
                <a:latin typeface="Arial" panose="020B0604020202020204" pitchFamily="34" charset="0"/>
                <a:cs typeface="Arial" panose="020B0604020202020204" pitchFamily="34" charset="0"/>
              </a:rPr>
              <a:t>interaction</a:t>
            </a:r>
            <a:r>
              <a:rPr lang="ko-KR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28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ko-KR" sz="2800" dirty="0" err="1">
                <a:latin typeface="Arial" panose="020B0604020202020204" pitchFamily="34" charset="0"/>
                <a:cs typeface="Arial" panose="020B0604020202020204" pitchFamily="34" charset="0"/>
              </a:rPr>
              <a:t>CellCall</a:t>
            </a:r>
            <a:r>
              <a:rPr lang="en-US" altLang="ko-KR" sz="28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51BA18A-A180-DFA4-DBBF-A01567DB1D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9761"/>
          <a:stretch>
            <a:fillRect/>
          </a:stretch>
        </p:blipFill>
        <p:spPr>
          <a:xfrm>
            <a:off x="230751" y="523220"/>
            <a:ext cx="6592443" cy="3076323"/>
          </a:xfrm>
          <a:prstGeom prst="rect">
            <a:avLst/>
          </a:prstGeom>
        </p:spPr>
      </p:pic>
      <p:sp>
        <p:nvSpPr>
          <p:cNvPr id="4" name="CuadroTexto 6">
            <a:extLst>
              <a:ext uri="{FF2B5EF4-FFF2-40B4-BE49-F238E27FC236}">
                <a16:creationId xmlns:a16="http://schemas.microsoft.com/office/drawing/2014/main" id="{4AFB82A2-6508-A6AC-99AF-EE9FF3C6D4F1}"/>
              </a:ext>
            </a:extLst>
          </p:cNvPr>
          <p:cNvSpPr txBox="1"/>
          <p:nvPr/>
        </p:nvSpPr>
        <p:spPr>
          <a:xfrm>
            <a:off x="230751" y="3780235"/>
            <a:ext cx="1148227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Only looking at the gene expression from the ligand-receptor is not enough</a:t>
            </a:r>
          </a:p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It should show some </a:t>
            </a: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perturbation of target genes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due to cell-cell interaction!</a:t>
            </a:r>
          </a:p>
          <a:p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Interaction score = LR * </a:t>
            </a: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TF</a:t>
            </a:r>
            <a:r>
              <a:rPr lang="en-GB" sz="20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endParaRPr lang="en-GB" sz="20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TF</a:t>
            </a:r>
            <a:r>
              <a:rPr lang="en-GB" altLang="ko-KR" sz="20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: regulon activity of TF</a:t>
            </a:r>
          </a:p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-LR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TF: KEGG, etc </a:t>
            </a:r>
          </a:p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-TF  regulon: known DB (TRRUST …) &amp; </a:t>
            </a: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coexpressed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with TF</a:t>
            </a:r>
          </a:p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GB" altLang="ko-KR" sz="2000" dirty="0" err="1">
                <a:latin typeface="Arial" panose="020B0604020202020204" pitchFamily="34" charset="0"/>
                <a:cs typeface="Arial" panose="020B0604020202020204" pitchFamily="34" charset="0"/>
              </a:rPr>
              <a:t>TF</a:t>
            </a:r>
            <a:r>
              <a:rPr lang="en-GB" altLang="ko-KR" sz="20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GB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: GSEA for those regulon</a:t>
            </a:r>
          </a:p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-Multiple </a:t>
            </a:r>
            <a:r>
              <a:rPr lang="en-GB" altLang="ko-KR" sz="2000" dirty="0" err="1">
                <a:latin typeface="Arial" panose="020B0604020202020204" pitchFamily="34" charset="0"/>
                <a:cs typeface="Arial" panose="020B0604020202020204" pitchFamily="34" charset="0"/>
              </a:rPr>
              <a:t>TF</a:t>
            </a:r>
            <a:r>
              <a:rPr lang="en-GB" altLang="ko-KR" sz="20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GB" altLang="ko-KR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: weight sum (number of node; LR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TF)</a:t>
            </a: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uadroTexto 6">
            <a:extLst>
              <a:ext uri="{FF2B5EF4-FFF2-40B4-BE49-F238E27FC236}">
                <a16:creationId xmlns:a16="http://schemas.microsoft.com/office/drawing/2014/main" id="{7642B680-2EEE-7D38-A9FD-3804019FBF81}"/>
              </a:ext>
            </a:extLst>
          </p:cNvPr>
          <p:cNvSpPr txBox="1"/>
          <p:nvPr/>
        </p:nvSpPr>
        <p:spPr>
          <a:xfrm>
            <a:off x="7204866" y="1052255"/>
            <a:ext cx="43194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LR: conceptually mean expression</a:t>
            </a: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0E076696-F28E-8D8D-E238-C5D944C7DBA1}"/>
              </a:ext>
            </a:extLst>
          </p:cNvPr>
          <p:cNvCxnSpPr>
            <a:cxnSpLocks/>
          </p:cNvCxnSpPr>
          <p:nvPr/>
        </p:nvCxnSpPr>
        <p:spPr>
          <a:xfrm flipV="1">
            <a:off x="6647543" y="1452365"/>
            <a:ext cx="861785" cy="39094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97703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CC95A19-C073-7B32-4CFA-7EC16AF41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6273"/>
            <a:ext cx="5342659" cy="277090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E18A3E8-4530-AA97-FBCE-FC9A1AB207F3}"/>
              </a:ext>
            </a:extLst>
          </p:cNvPr>
          <p:cNvSpPr txBox="1"/>
          <p:nvPr/>
        </p:nvSpPr>
        <p:spPr>
          <a:xfrm>
            <a:off x="0" y="0"/>
            <a:ext cx="12172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800" dirty="0">
                <a:latin typeface="Arial" panose="020B0604020202020204" pitchFamily="34" charset="0"/>
                <a:cs typeface="Arial" panose="020B0604020202020204" pitchFamily="34" charset="0"/>
              </a:rPr>
              <a:t>Cell-Cell</a:t>
            </a:r>
            <a:r>
              <a:rPr lang="ko-KR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2800" dirty="0">
                <a:latin typeface="Arial" panose="020B0604020202020204" pitchFamily="34" charset="0"/>
                <a:cs typeface="Arial" panose="020B0604020202020204" pitchFamily="34" charset="0"/>
              </a:rPr>
              <a:t>interaction</a:t>
            </a:r>
            <a:r>
              <a:rPr lang="ko-KR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28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ko-KR" sz="2800" dirty="0" err="1">
                <a:latin typeface="Arial" panose="020B0604020202020204" pitchFamily="34" charset="0"/>
                <a:cs typeface="Arial" panose="020B0604020202020204" pitchFamily="34" charset="0"/>
              </a:rPr>
              <a:t>NicheNet</a:t>
            </a:r>
            <a:r>
              <a:rPr lang="en-US" altLang="ko-KR" sz="28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7BAAE482-7FAD-5670-9E15-E5209DEF5CB3}"/>
              </a:ext>
            </a:extLst>
          </p:cNvPr>
          <p:cNvGrpSpPr/>
          <p:nvPr/>
        </p:nvGrpSpPr>
        <p:grpSpPr>
          <a:xfrm>
            <a:off x="8382786" y="3219083"/>
            <a:ext cx="2957045" cy="3579662"/>
            <a:chOff x="6414966" y="166857"/>
            <a:chExt cx="2957045" cy="3579662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5101502B-F4E8-FC50-10F9-44A821E973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14967" y="547213"/>
              <a:ext cx="2957044" cy="3199306"/>
            </a:xfrm>
            <a:prstGeom prst="rect">
              <a:avLst/>
            </a:prstGeom>
          </p:spPr>
        </p:pic>
        <p:sp>
          <p:nvSpPr>
            <p:cNvPr id="8" name="CuadroTexto 6">
              <a:extLst>
                <a:ext uri="{FF2B5EF4-FFF2-40B4-BE49-F238E27FC236}">
                  <a16:creationId xmlns:a16="http://schemas.microsoft.com/office/drawing/2014/main" id="{41C42EAA-2DB7-647B-599E-F10777447DE1}"/>
                </a:ext>
              </a:extLst>
            </p:cNvPr>
            <p:cNvSpPr txBox="1"/>
            <p:nvPr/>
          </p:nvSpPr>
          <p:spPr>
            <a:xfrm>
              <a:off x="6414967" y="166857"/>
              <a:ext cx="18291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000" dirty="0">
                  <a:latin typeface="Arial" panose="020B0604020202020204" pitchFamily="34" charset="0"/>
                  <a:cs typeface="Arial" panose="020B0604020202020204" pitchFamily="34" charset="0"/>
                </a:rPr>
                <a:t>Typical CCC</a:t>
              </a:r>
            </a:p>
          </p:txBody>
        </p:sp>
        <p:sp>
          <p:nvSpPr>
            <p:cNvPr id="10" name="CuadroTexto 6">
              <a:extLst>
                <a:ext uri="{FF2B5EF4-FFF2-40B4-BE49-F238E27FC236}">
                  <a16:creationId xmlns:a16="http://schemas.microsoft.com/office/drawing/2014/main" id="{B3373516-DBE1-721B-D0A7-6547A2B92FB6}"/>
                </a:ext>
              </a:extLst>
            </p:cNvPr>
            <p:cNvSpPr txBox="1"/>
            <p:nvPr/>
          </p:nvSpPr>
          <p:spPr>
            <a:xfrm>
              <a:off x="6414966" y="1944007"/>
              <a:ext cx="18291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NicheNet</a:t>
              </a:r>
              <a:endParaRPr lang="en-GB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2CC6B24D-A436-BE15-98D4-2E7CC9CCD475}"/>
                </a:ext>
              </a:extLst>
            </p:cNvPr>
            <p:cNvSpPr/>
            <p:nvPr/>
          </p:nvSpPr>
          <p:spPr>
            <a:xfrm>
              <a:off x="7039429" y="2344117"/>
              <a:ext cx="2119085" cy="890917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" name="CuadroTexto 6">
            <a:extLst>
              <a:ext uri="{FF2B5EF4-FFF2-40B4-BE49-F238E27FC236}">
                <a16:creationId xmlns:a16="http://schemas.microsoft.com/office/drawing/2014/main" id="{837E4482-55B2-3855-16F1-3E85E5BAE19D}"/>
              </a:ext>
            </a:extLst>
          </p:cNvPr>
          <p:cNvSpPr txBox="1"/>
          <p:nvPr/>
        </p:nvSpPr>
        <p:spPr>
          <a:xfrm>
            <a:off x="230750" y="3780235"/>
            <a:ext cx="812836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-Merge each path from DB: weighted network (prior model)</a:t>
            </a:r>
          </a:p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Ligand – receptor </a:t>
            </a:r>
            <a:r>
              <a:rPr lang="en-GB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– TF – target genes</a:t>
            </a:r>
          </a:p>
          <a:p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-ligand ~ potential target genes vs </a:t>
            </a: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bg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genes</a:t>
            </a:r>
          </a:p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-ligand ranking: ligand [exp] ~ predefined targets [gene exp]</a:t>
            </a:r>
          </a:p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how much ligand expression can differentially express target genes)</a:t>
            </a: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-target genes are selected by a predefined ligand-target link</a:t>
            </a: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BF61D75F-9BAE-E832-BD4F-AFB4AF8B2120}"/>
              </a:ext>
            </a:extLst>
          </p:cNvPr>
          <p:cNvCxnSpPr>
            <a:cxnSpLocks/>
          </p:cNvCxnSpPr>
          <p:nvPr/>
        </p:nvCxnSpPr>
        <p:spPr>
          <a:xfrm>
            <a:off x="518340" y="3127185"/>
            <a:ext cx="1967820" cy="66416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>
            <a:extLst>
              <a:ext uri="{FF2B5EF4-FFF2-40B4-BE49-F238E27FC236}">
                <a16:creationId xmlns:a16="http://schemas.microsoft.com/office/drawing/2014/main" id="{41D5B0B5-560C-B35D-0D38-FC1EC2DFB2F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0" t="-1725" r="-170" b="50411"/>
          <a:stretch>
            <a:fillRect/>
          </a:stretch>
        </p:blipFill>
        <p:spPr>
          <a:xfrm>
            <a:off x="5461605" y="674184"/>
            <a:ext cx="6393905" cy="2403581"/>
          </a:xfrm>
          <a:prstGeom prst="rect">
            <a:avLst/>
          </a:prstGeom>
        </p:spPr>
      </p:pic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8104FAF6-C3B2-B4E9-D52A-ECBF38CD7F2C}"/>
              </a:ext>
            </a:extLst>
          </p:cNvPr>
          <p:cNvCxnSpPr>
            <a:cxnSpLocks/>
          </p:cNvCxnSpPr>
          <p:nvPr/>
        </p:nvCxnSpPr>
        <p:spPr>
          <a:xfrm>
            <a:off x="3466653" y="2662458"/>
            <a:ext cx="711705" cy="157719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DCF8BC9F-F80B-2C03-4C5B-5D1F99F8B483}"/>
              </a:ext>
            </a:extLst>
          </p:cNvPr>
          <p:cNvCxnSpPr>
            <a:cxnSpLocks/>
          </p:cNvCxnSpPr>
          <p:nvPr/>
        </p:nvCxnSpPr>
        <p:spPr>
          <a:xfrm flipV="1">
            <a:off x="6986588" y="1261979"/>
            <a:ext cx="3249018" cy="37342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32727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2F582-2413-2FD9-3AE4-5E1B50DD3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26BAF7-2BB0-CB11-74F7-5CF07776F5EE}"/>
              </a:ext>
            </a:extLst>
          </p:cNvPr>
          <p:cNvSpPr txBox="1"/>
          <p:nvPr/>
        </p:nvSpPr>
        <p:spPr>
          <a:xfrm>
            <a:off x="0" y="0"/>
            <a:ext cx="121729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800" dirty="0">
                <a:latin typeface="Arial" panose="020B0604020202020204" pitchFamily="34" charset="0"/>
                <a:cs typeface="Arial" panose="020B0604020202020204" pitchFamily="34" charset="0"/>
              </a:rPr>
              <a:t>Cell-Cell</a:t>
            </a:r>
            <a:r>
              <a:rPr lang="ko-KR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2800" dirty="0">
                <a:latin typeface="Arial" panose="020B0604020202020204" pitchFamily="34" charset="0"/>
                <a:cs typeface="Arial" panose="020B0604020202020204" pitchFamily="34" charset="0"/>
              </a:rPr>
              <a:t>interaction</a:t>
            </a:r>
            <a:r>
              <a:rPr lang="ko-KR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2800" dirty="0">
                <a:latin typeface="Arial" panose="020B0604020202020204" pitchFamily="34" charset="0"/>
                <a:cs typeface="Arial" panose="020B0604020202020204" pitchFamily="34" charset="0"/>
              </a:rPr>
              <a:t>comparison</a:t>
            </a:r>
          </a:p>
          <a:p>
            <a:r>
              <a:rPr lang="en-US" altLang="ko-KR" sz="2800" dirty="0">
                <a:latin typeface="Arial" panose="020B0604020202020204" pitchFamily="34" charset="0"/>
                <a:cs typeface="Arial" panose="020B0604020202020204" pitchFamily="34" charset="0"/>
              </a:rPr>
              <a:t>-Heterogeneous DB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559AF60-9B24-DA21-CF4F-B3EC49DEF2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" y="954107"/>
            <a:ext cx="8684277" cy="4640066"/>
          </a:xfrm>
          <a:prstGeom prst="rect">
            <a:avLst/>
          </a:prstGeom>
        </p:spPr>
      </p:pic>
      <p:sp>
        <p:nvSpPr>
          <p:cNvPr id="4" name="CuadroTexto 6">
            <a:extLst>
              <a:ext uri="{FF2B5EF4-FFF2-40B4-BE49-F238E27FC236}">
                <a16:creationId xmlns:a16="http://schemas.microsoft.com/office/drawing/2014/main" id="{4AA1035F-7EAF-4249-5932-02F1E6B11214}"/>
              </a:ext>
            </a:extLst>
          </p:cNvPr>
          <p:cNvSpPr txBox="1"/>
          <p:nvPr/>
        </p:nvSpPr>
        <p:spPr>
          <a:xfrm>
            <a:off x="8458201" y="1069692"/>
            <a:ext cx="3429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*KEGG, </a:t>
            </a: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Reactome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, STRING</a:t>
            </a:r>
          </a:p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*Published literature</a:t>
            </a:r>
          </a:p>
        </p:txBody>
      </p:sp>
    </p:spTree>
    <p:extLst>
      <p:ext uri="{BB962C8B-B14F-4D97-AF65-F5344CB8AC3E}">
        <p14:creationId xmlns:p14="http://schemas.microsoft.com/office/powerpoint/2010/main" val="1288451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3ADBD-29C8-F3E9-03AC-BD7C37AD6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C83F2E-97F7-9476-7579-EFB9352083CF}"/>
              </a:ext>
            </a:extLst>
          </p:cNvPr>
          <p:cNvSpPr txBox="1"/>
          <p:nvPr/>
        </p:nvSpPr>
        <p:spPr>
          <a:xfrm>
            <a:off x="0" y="0"/>
            <a:ext cx="121729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800" dirty="0">
                <a:latin typeface="Arial" panose="020B0604020202020204" pitchFamily="34" charset="0"/>
                <a:cs typeface="Arial" panose="020B0604020202020204" pitchFamily="34" charset="0"/>
              </a:rPr>
              <a:t>Cell-Cell</a:t>
            </a:r>
            <a:r>
              <a:rPr lang="ko-KR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2800" dirty="0">
                <a:latin typeface="Arial" panose="020B0604020202020204" pitchFamily="34" charset="0"/>
                <a:cs typeface="Arial" panose="020B0604020202020204" pitchFamily="34" charset="0"/>
              </a:rPr>
              <a:t>interaction</a:t>
            </a:r>
            <a:r>
              <a:rPr lang="ko-KR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2800" dirty="0">
                <a:latin typeface="Arial" panose="020B0604020202020204" pitchFamily="34" charset="0"/>
                <a:cs typeface="Arial" panose="020B0604020202020204" pitchFamily="34" charset="0"/>
              </a:rPr>
              <a:t>comparison</a:t>
            </a:r>
            <a:endParaRPr lang="ko-KR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sz="2800" dirty="0">
                <a:latin typeface="Arial" panose="020B0604020202020204" pitchFamily="34" charset="0"/>
                <a:cs typeface="Arial" panose="020B0604020202020204" pitchFamily="34" charset="0"/>
              </a:rPr>
              <a:t>-Different</a:t>
            </a:r>
            <a:r>
              <a:rPr lang="ko-KR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2800" dirty="0">
                <a:latin typeface="Arial" panose="020B0604020202020204" pitchFamily="34" charset="0"/>
                <a:cs typeface="Arial" panose="020B0604020202020204" pitchFamily="34" charset="0"/>
              </a:rPr>
              <a:t>CCC</a:t>
            </a:r>
            <a:r>
              <a:rPr lang="ko-KR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2800" dirty="0">
                <a:latin typeface="Arial" panose="020B0604020202020204" pitchFamily="34" charset="0"/>
                <a:cs typeface="Arial" panose="020B0604020202020204" pitchFamily="34" charset="0"/>
              </a:rPr>
              <a:t>methods are too different</a:t>
            </a:r>
            <a:r>
              <a:rPr lang="ko-KR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ko-KR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3D16D01-C94D-E6D5-711C-E4D6BBDFDF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747" y="954107"/>
            <a:ext cx="5020453" cy="574603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2322A1A-B430-F527-37D6-2737F2E97A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6475" y="1049357"/>
            <a:ext cx="5914365" cy="4446567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83B43B89-87CA-0C76-B27D-447C16BB4D75}"/>
              </a:ext>
            </a:extLst>
          </p:cNvPr>
          <p:cNvSpPr txBox="1"/>
          <p:nvPr/>
        </p:nvSpPr>
        <p:spPr>
          <a:xfrm>
            <a:off x="6096000" y="5591174"/>
            <a:ext cx="44831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Low Jaccard index (low overlap)</a:t>
            </a:r>
          </a:p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-across DB</a:t>
            </a:r>
          </a:p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-across method</a:t>
            </a:r>
          </a:p>
        </p:txBody>
      </p:sp>
    </p:spTree>
    <p:extLst>
      <p:ext uri="{BB962C8B-B14F-4D97-AF65-F5344CB8AC3E}">
        <p14:creationId xmlns:p14="http://schemas.microsoft.com/office/powerpoint/2010/main" val="36341570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8C2D0-8FBD-1CB8-0C43-5DEAE912C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E8CE92-F3E6-9272-87A2-0D1EBAB7724C}"/>
              </a:ext>
            </a:extLst>
          </p:cNvPr>
          <p:cNvSpPr txBox="1"/>
          <p:nvPr/>
        </p:nvSpPr>
        <p:spPr>
          <a:xfrm>
            <a:off x="0" y="0"/>
            <a:ext cx="12172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800" dirty="0" err="1">
                <a:latin typeface="Arial" panose="020B0604020202020204" pitchFamily="34" charset="0"/>
                <a:cs typeface="Arial" panose="020B0604020202020204" pitchFamily="34" charset="0"/>
              </a:rPr>
              <a:t>Pseudotime</a:t>
            </a:r>
            <a:r>
              <a:rPr lang="en-US" altLang="ko-KR" sz="2800" dirty="0">
                <a:latin typeface="Arial" panose="020B0604020202020204" pitchFamily="34" charset="0"/>
                <a:cs typeface="Arial" panose="020B0604020202020204" pitchFamily="34" charset="0"/>
              </a:rPr>
              <a:t> analysis (Monocle2)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F816862-53D4-4852-CB07-276CD447B9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" y="427133"/>
            <a:ext cx="7894797" cy="3895535"/>
          </a:xfrm>
          <a:prstGeom prst="rect">
            <a:avLst/>
          </a:prstGeom>
        </p:spPr>
      </p:pic>
      <p:sp>
        <p:nvSpPr>
          <p:cNvPr id="4" name="CuadroTexto 6">
            <a:extLst>
              <a:ext uri="{FF2B5EF4-FFF2-40B4-BE49-F238E27FC236}">
                <a16:creationId xmlns:a16="http://schemas.microsoft.com/office/drawing/2014/main" id="{89631DF9-51F0-D048-1290-50D4F02AEE1A}"/>
              </a:ext>
            </a:extLst>
          </p:cNvPr>
          <p:cNvSpPr txBox="1"/>
          <p:nvPr/>
        </p:nvSpPr>
        <p:spPr>
          <a:xfrm>
            <a:off x="19050" y="4491875"/>
            <a:ext cx="739140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Aligning cells into a virtual embedding</a:t>
            </a:r>
          </a:p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-Dimension reduction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initial centroid (k-mean)</a:t>
            </a:r>
          </a:p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update cell position</a:t>
            </a:r>
          </a:p>
          <a:p>
            <a:pPr marL="342900" indent="-342900">
              <a:buFont typeface="Wingdings" panose="05000000000000000000" pitchFamily="2" charset="2"/>
              <a:buChar char="à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High dimension  re-do until convergence</a:t>
            </a:r>
          </a:p>
          <a:p>
            <a:pPr marL="342900" indent="-342900">
              <a:buFont typeface="Wingdings" panose="05000000000000000000" pitchFamily="2" charset="2"/>
              <a:buChar char="à"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Conceptually: clustering + network construction</a:t>
            </a:r>
          </a:p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Gene: DEG (across differentiation), HVG …</a:t>
            </a: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7BF9569-994C-63B6-A100-8B47C29105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5963" y="346406"/>
            <a:ext cx="4056987" cy="4056987"/>
          </a:xfrm>
          <a:prstGeom prst="rect">
            <a:avLst/>
          </a:prstGeom>
        </p:spPr>
      </p:pic>
      <p:sp>
        <p:nvSpPr>
          <p:cNvPr id="6" name="CuadroTexto 6">
            <a:extLst>
              <a:ext uri="{FF2B5EF4-FFF2-40B4-BE49-F238E27FC236}">
                <a16:creationId xmlns:a16="http://schemas.microsoft.com/office/drawing/2014/main" id="{455C18A1-C574-08CF-0C37-0FB934507422}"/>
              </a:ext>
            </a:extLst>
          </p:cNvPr>
          <p:cNvSpPr txBox="1"/>
          <p:nvPr/>
        </p:nvSpPr>
        <p:spPr>
          <a:xfrm>
            <a:off x="8477581" y="4491875"/>
            <a:ext cx="33337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*Require root cell or cluster</a:t>
            </a: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D82D85EE-9555-5F01-C66A-FAD6A26750E5}"/>
              </a:ext>
            </a:extLst>
          </p:cNvPr>
          <p:cNvCxnSpPr>
            <a:cxnSpLocks/>
          </p:cNvCxnSpPr>
          <p:nvPr/>
        </p:nvCxnSpPr>
        <p:spPr>
          <a:xfrm flipH="1" flipV="1">
            <a:off x="8807116" y="2107933"/>
            <a:ext cx="1183945" cy="249594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59158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FF178-78A7-3565-3716-AE272A070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5F380D-5113-0AE7-27DC-6B338F88FC81}"/>
              </a:ext>
            </a:extLst>
          </p:cNvPr>
          <p:cNvSpPr txBox="1"/>
          <p:nvPr/>
        </p:nvSpPr>
        <p:spPr>
          <a:xfrm>
            <a:off x="0" y="0"/>
            <a:ext cx="12172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800" dirty="0" err="1">
                <a:latin typeface="Arial" panose="020B0604020202020204" pitchFamily="34" charset="0"/>
                <a:cs typeface="Arial" panose="020B0604020202020204" pitchFamily="34" charset="0"/>
              </a:rPr>
              <a:t>Pseudotime</a:t>
            </a:r>
            <a:r>
              <a:rPr lang="en-US" altLang="ko-KR" sz="2800" dirty="0">
                <a:latin typeface="Arial" panose="020B0604020202020204" pitchFamily="34" charset="0"/>
                <a:cs typeface="Arial" panose="020B0604020202020204" pitchFamily="34" charset="0"/>
              </a:rPr>
              <a:t> analysis (Monocle3)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61D39C3-5AD9-A884-ABEE-C517ABB5F8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5116"/>
            <a:ext cx="7084711" cy="5667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6">
            <a:extLst>
              <a:ext uri="{FF2B5EF4-FFF2-40B4-BE49-F238E27FC236}">
                <a16:creationId xmlns:a16="http://schemas.microsoft.com/office/drawing/2014/main" id="{517B9784-B724-5C31-14CC-EA86CBAA8617}"/>
              </a:ext>
            </a:extLst>
          </p:cNvPr>
          <p:cNvSpPr txBox="1"/>
          <p:nvPr/>
        </p:nvSpPr>
        <p:spPr>
          <a:xfrm>
            <a:off x="7356552" y="811972"/>
            <a:ext cx="4225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Adapt dimension reduction space into a familiar UMAP projection</a:t>
            </a:r>
          </a:p>
        </p:txBody>
      </p:sp>
    </p:spTree>
    <p:extLst>
      <p:ext uri="{BB962C8B-B14F-4D97-AF65-F5344CB8AC3E}">
        <p14:creationId xmlns:p14="http://schemas.microsoft.com/office/powerpoint/2010/main" val="6562770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0C2F0-63D2-F6D5-71D7-F53F371EB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A2B7EA-BCD2-C7ED-D42F-DFD8C1015097}"/>
              </a:ext>
            </a:extLst>
          </p:cNvPr>
          <p:cNvSpPr txBox="1"/>
          <p:nvPr/>
        </p:nvSpPr>
        <p:spPr>
          <a:xfrm>
            <a:off x="0" y="0"/>
            <a:ext cx="12172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800" dirty="0" err="1">
                <a:latin typeface="Arial" panose="020B0604020202020204" pitchFamily="34" charset="0"/>
                <a:cs typeface="Arial" panose="020B0604020202020204" pitchFamily="34" charset="0"/>
              </a:rPr>
              <a:t>TradeSeq</a:t>
            </a:r>
            <a:endParaRPr lang="en-US" altLang="ko-KR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F7FCE68-4E17-01D7-C443-FF40F9CA92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4964" b="66569"/>
          <a:stretch>
            <a:fillRect/>
          </a:stretch>
        </p:blipFill>
        <p:spPr>
          <a:xfrm>
            <a:off x="201185" y="873476"/>
            <a:ext cx="6212745" cy="2391663"/>
          </a:xfrm>
          <a:prstGeom prst="rect">
            <a:avLst/>
          </a:prstGeom>
        </p:spPr>
      </p:pic>
      <p:sp>
        <p:nvSpPr>
          <p:cNvPr id="4" name="CuadroTexto 6">
            <a:extLst>
              <a:ext uri="{FF2B5EF4-FFF2-40B4-BE49-F238E27FC236}">
                <a16:creationId xmlns:a16="http://schemas.microsoft.com/office/drawing/2014/main" id="{BEAA245C-5FA7-D2DE-1F31-037238060A2C}"/>
              </a:ext>
            </a:extLst>
          </p:cNvPr>
          <p:cNvSpPr txBox="1"/>
          <p:nvPr/>
        </p:nvSpPr>
        <p:spPr>
          <a:xfrm>
            <a:off x="201184" y="3615395"/>
            <a:ext cx="997151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What kind of genes are associated with a given trajectory</a:t>
            </a:r>
          </a:p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Pseudotime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~ Gene expression (correlation)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 likely to be poor</a:t>
            </a:r>
          </a:p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-Negative binomial generalized additive model (nonlinear approach)</a:t>
            </a:r>
          </a:p>
          <a:p>
            <a:endParaRPr lang="en-GB" sz="20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342900" indent="-342900">
              <a:buFont typeface="Wingdings" panose="05000000000000000000" pitchFamily="2" charset="2"/>
              <a:buChar char="à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but, super slow …</a:t>
            </a:r>
          </a:p>
          <a:p>
            <a:pPr marL="342900" indent="-342900">
              <a:buFont typeface="Wingdings" panose="05000000000000000000" pitchFamily="2" charset="2"/>
              <a:buChar char="à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Maybe, binning??</a:t>
            </a:r>
          </a:p>
        </p:txBody>
      </p:sp>
    </p:spTree>
    <p:extLst>
      <p:ext uri="{BB962C8B-B14F-4D97-AF65-F5344CB8AC3E}">
        <p14:creationId xmlns:p14="http://schemas.microsoft.com/office/powerpoint/2010/main" val="21690256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D39C4-B453-AFE9-6E0E-DA81674D8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F12C3E-5063-E2AA-E58D-21F8F235CDC0}"/>
              </a:ext>
            </a:extLst>
          </p:cNvPr>
          <p:cNvSpPr txBox="1"/>
          <p:nvPr/>
        </p:nvSpPr>
        <p:spPr>
          <a:xfrm>
            <a:off x="0" y="0"/>
            <a:ext cx="12172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800" dirty="0" err="1">
                <a:latin typeface="Arial" panose="020B0604020202020204" pitchFamily="34" charset="0"/>
                <a:cs typeface="Arial" panose="020B0604020202020204" pitchFamily="34" charset="0"/>
              </a:rPr>
              <a:t>Velocyto</a:t>
            </a:r>
            <a:r>
              <a:rPr lang="en-US" altLang="ko-KR" sz="2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ko-KR" sz="2800" dirty="0" err="1">
                <a:latin typeface="Arial" panose="020B0604020202020204" pitchFamily="34" charset="0"/>
                <a:cs typeface="Arial" panose="020B0604020202020204" pitchFamily="34" charset="0"/>
              </a:rPr>
              <a:t>scVelo</a:t>
            </a:r>
            <a:endParaRPr lang="en-US" altLang="ko-KR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7DF187A-2ABF-7328-7F78-53B9727017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927"/>
          <a:stretch>
            <a:fillRect/>
          </a:stretch>
        </p:blipFill>
        <p:spPr>
          <a:xfrm>
            <a:off x="0" y="462779"/>
            <a:ext cx="3828883" cy="4022687"/>
          </a:xfrm>
          <a:prstGeom prst="rect">
            <a:avLst/>
          </a:prstGeom>
        </p:spPr>
      </p:pic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70B6F9E-9093-027B-EC2D-D95F4CB38EEC}"/>
              </a:ext>
            </a:extLst>
          </p:cNvPr>
          <p:cNvSpPr txBox="1">
            <a:spLocks/>
          </p:cNvSpPr>
          <p:nvPr/>
        </p:nvSpPr>
        <p:spPr>
          <a:xfrm>
            <a:off x="2609469" y="3299842"/>
            <a:ext cx="1217769" cy="43215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AT" altLang="ko-KR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unspliced</a:t>
            </a:r>
          </a:p>
        </p:txBody>
      </p:sp>
      <p:sp>
        <p:nvSpPr>
          <p:cNvPr id="5" name="Textplatzhalter 3">
            <a:extLst>
              <a:ext uri="{FF2B5EF4-FFF2-40B4-BE49-F238E27FC236}">
                <a16:creationId xmlns:a16="http://schemas.microsoft.com/office/drawing/2014/main" id="{DD1BDFDC-82DE-7147-7951-E98AD871D1FC}"/>
              </a:ext>
            </a:extLst>
          </p:cNvPr>
          <p:cNvSpPr txBox="1">
            <a:spLocks/>
          </p:cNvSpPr>
          <p:nvPr/>
        </p:nvSpPr>
        <p:spPr>
          <a:xfrm>
            <a:off x="497846" y="2996847"/>
            <a:ext cx="1217769" cy="43215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AT" altLang="ko-KR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spliced</a:t>
            </a:r>
          </a:p>
        </p:txBody>
      </p:sp>
      <p:sp>
        <p:nvSpPr>
          <p:cNvPr id="6" name="CuadroTexto 6">
            <a:extLst>
              <a:ext uri="{FF2B5EF4-FFF2-40B4-BE49-F238E27FC236}">
                <a16:creationId xmlns:a16="http://schemas.microsoft.com/office/drawing/2014/main" id="{67785CEF-487F-4FA7-2BF4-5C239A75FA58}"/>
              </a:ext>
            </a:extLst>
          </p:cNvPr>
          <p:cNvSpPr txBox="1"/>
          <p:nvPr/>
        </p:nvSpPr>
        <p:spPr>
          <a:xfrm>
            <a:off x="4832819" y="733047"/>
            <a:ext cx="705149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Assumption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: during the differentiation, progenitor may have more </a:t>
            </a: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unspliced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RNA while differentiated cell may have fully spliced form</a:t>
            </a:r>
          </a:p>
          <a:p>
            <a:endParaRPr lang="en-GB" sz="20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-Compare between </a:t>
            </a: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unspliced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/spliced ratio! (RNA velocity) for each gene</a:t>
            </a:r>
          </a:p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-Merge all the velocities (from all the gene)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project on the user embedding space (UMAP)</a:t>
            </a: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-Sum of transition P = 1 for each cell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72C6399-F1B8-D9EB-9822-1EC91E5364F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890" t="63911"/>
          <a:stretch>
            <a:fillRect/>
          </a:stretch>
        </p:blipFill>
        <p:spPr>
          <a:xfrm>
            <a:off x="9229726" y="3893856"/>
            <a:ext cx="2943224" cy="2327203"/>
          </a:xfrm>
          <a:prstGeom prst="rect">
            <a:avLst/>
          </a:prstGeom>
        </p:spPr>
      </p:pic>
      <p:sp>
        <p:nvSpPr>
          <p:cNvPr id="10" name="CuadroTexto 6">
            <a:extLst>
              <a:ext uri="{FF2B5EF4-FFF2-40B4-BE49-F238E27FC236}">
                <a16:creationId xmlns:a16="http://schemas.microsoft.com/office/drawing/2014/main" id="{E8E1B652-D8C3-F808-A1C9-EDF2CBF62631}"/>
              </a:ext>
            </a:extLst>
          </p:cNvPr>
          <p:cNvSpPr txBox="1"/>
          <p:nvPr/>
        </p:nvSpPr>
        <p:spPr>
          <a:xfrm>
            <a:off x="85328" y="4696525"/>
            <a:ext cx="748381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*RNA velocity: steady-state approximation             </a:t>
            </a:r>
          </a:p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spliced RNA </a:t>
            </a: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deg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speed = splicing rate * </a:t>
            </a: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unspliced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RNA</a:t>
            </a:r>
          </a:p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- Spliced RNA * degradation rate = 0</a:t>
            </a:r>
          </a:p>
          <a:p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scVelo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: those parameters change across time and cell states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AC2C81A8-D77F-8328-8CA6-1043A2B134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7648" y="4659953"/>
            <a:ext cx="2116774" cy="795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484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F7812-E8C9-8D6B-00BA-DCBD4CD4E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52B3F9-82C1-9C6A-AB10-5ED27B17DC6A}"/>
              </a:ext>
            </a:extLst>
          </p:cNvPr>
          <p:cNvSpPr txBox="1"/>
          <p:nvPr/>
        </p:nvSpPr>
        <p:spPr>
          <a:xfrm>
            <a:off x="0" y="0"/>
            <a:ext cx="12172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800" dirty="0">
                <a:latin typeface="Arial" panose="020B0604020202020204" pitchFamily="34" charset="0"/>
                <a:cs typeface="Arial" panose="020B0604020202020204" pitchFamily="34" charset="0"/>
              </a:rPr>
              <a:t>PAGA (Representation)</a:t>
            </a:r>
          </a:p>
        </p:txBody>
      </p:sp>
      <p:pic>
        <p:nvPicPr>
          <p:cNvPr id="4" name="Picture 2" descr="figure 1">
            <a:extLst>
              <a:ext uri="{FF2B5EF4-FFF2-40B4-BE49-F238E27FC236}">
                <a16:creationId xmlns:a16="http://schemas.microsoft.com/office/drawing/2014/main" id="{47216E25-8010-2955-3177-E72E9E8867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632" y="675771"/>
            <a:ext cx="6524625" cy="2886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ECECB05-A21E-5130-B72A-570BFC00DFA3}"/>
              </a:ext>
            </a:extLst>
          </p:cNvPr>
          <p:cNvSpPr txBox="1"/>
          <p:nvPr/>
        </p:nvSpPr>
        <p:spPr>
          <a:xfrm>
            <a:off x="240632" y="3781718"/>
            <a:ext cx="1049153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-Abstraction of trajectory (</a:t>
            </a:r>
            <a:r>
              <a:rPr lang="en-US" altLang="ko-KR" sz="2400" dirty="0" err="1"/>
              <a:t>scvelo</a:t>
            </a:r>
            <a:r>
              <a:rPr lang="en-US" altLang="ko-KR" sz="2400" dirty="0"/>
              <a:t>) result</a:t>
            </a:r>
          </a:p>
          <a:p>
            <a:r>
              <a:rPr lang="en-US" altLang="ko-KR" sz="2400" dirty="0"/>
              <a:t>Using graph-based cell-cell similarity (</a:t>
            </a:r>
            <a:r>
              <a:rPr lang="en-US" altLang="ko-KR" sz="2400" dirty="0">
                <a:sym typeface="Wingdings" panose="05000000000000000000" pitchFamily="2" charset="2"/>
              </a:rPr>
              <a:t> connectivity calculated by trajectory)</a:t>
            </a:r>
            <a:endParaRPr lang="en-US" altLang="ko-KR" sz="2400" dirty="0"/>
          </a:p>
          <a:p>
            <a:endParaRPr lang="en-US" altLang="ko-KR" sz="2400" dirty="0"/>
          </a:p>
          <a:p>
            <a:r>
              <a:rPr lang="en-US" sz="2400" dirty="0">
                <a:sym typeface="Wingdings" panose="05000000000000000000" pitchFamily="2" charset="2"/>
              </a:rPr>
              <a:t>-PAGA transition confidence score: actual / random expected model</a:t>
            </a:r>
          </a:p>
          <a:p>
            <a:endParaRPr lang="en-US" sz="2400" dirty="0">
              <a:sym typeface="Wingdings" panose="05000000000000000000" pitchFamily="2" charset="2"/>
            </a:endParaRPr>
          </a:p>
          <a:p>
            <a:r>
              <a:rPr lang="en-US" sz="2400" dirty="0"/>
              <a:t>The confidence should be interpreted as the ratio of the actual versus the expected value of connections under the null model of randomly connecting partitions.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F92E3F9-6673-9E7D-9C1B-58B287ADB6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6163" y="468157"/>
            <a:ext cx="4401733" cy="330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8822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2A691-52FD-75F9-0B1D-DDA1872BB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03571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DD441-28C0-7D2D-DC84-07728C784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AFC382-D65A-ADA6-CE33-383C1B929FAB}"/>
              </a:ext>
            </a:extLst>
          </p:cNvPr>
          <p:cNvSpPr txBox="1"/>
          <p:nvPr/>
        </p:nvSpPr>
        <p:spPr>
          <a:xfrm>
            <a:off x="0" y="0"/>
            <a:ext cx="12172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8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ImmuneDictionary</a:t>
            </a:r>
            <a:endParaRPr lang="en-US" altLang="ko-KR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61757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2842</TotalTime>
  <Words>1534</Words>
  <Application>Microsoft Office PowerPoint</Application>
  <PresentationFormat>와이드스크린</PresentationFormat>
  <Paragraphs>270</Paragraphs>
  <Slides>36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42" baseType="lpstr">
      <vt:lpstr>맑은 고딕</vt:lpstr>
      <vt:lpstr>Arial</vt:lpstr>
      <vt:lpstr>Calibri</vt:lpstr>
      <vt:lpstr>Calibri Light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Cho, Jae-Won</dc:creator>
  <cp:lastModifiedBy>조재원</cp:lastModifiedBy>
  <cp:revision>223</cp:revision>
  <dcterms:created xsi:type="dcterms:W3CDTF">2023-02-08T19:05:17Z</dcterms:created>
  <dcterms:modified xsi:type="dcterms:W3CDTF">2025-08-01T01:55:45Z</dcterms:modified>
</cp:coreProperties>
</file>